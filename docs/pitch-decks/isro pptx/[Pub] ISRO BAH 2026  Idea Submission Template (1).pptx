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32382" y="764785"/>
            <a:ext cx="1879235" cy="337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9637" y="1324687"/>
            <a:ext cx="7324725" cy="3589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object 3"/>
          <p:cNvSpPr txBox="1"/>
          <p:nvPr/>
        </p:nvSpPr>
        <p:spPr>
          <a:xfrm>
            <a:off x="161925" y="3249295"/>
            <a:ext cx="8710295" cy="160274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2400" spc="-365" dirty="0">
                <a:solidFill>
                  <a:srgbClr val="202729"/>
                </a:solidFill>
                <a:latin typeface="Times New Roman" panose="02020603050405020304" charset="0"/>
                <a:cs typeface="Times New Roman" panose="02020603050405020304" charset="0"/>
              </a:rPr>
              <a:t> T e a m  N a m e :  C l i m a t e B h a r a t</a:t>
            </a:r>
            <a:endParaRPr lang="en-IN" altLang="en-US" sz="2400" spc="-365" dirty="0">
              <a:solidFill>
                <a:srgbClr val="2027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2400" spc="-365" dirty="0">
                <a:solidFill>
                  <a:srgbClr val="202729"/>
                </a:solidFill>
                <a:latin typeface="Times New Roman" panose="02020603050405020304" charset="0"/>
                <a:cs typeface="Times New Roman" panose="02020603050405020304" charset="0"/>
              </a:rPr>
              <a:t>T e a m   L e a d e r  : A n k u s h  H o n n a l l i</a:t>
            </a:r>
            <a:endParaRPr lang="en-IN" altLang="en-US" sz="2400" spc="-365" dirty="0">
              <a:solidFill>
                <a:srgbClr val="2027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2400" spc="-365" dirty="0">
                <a:solidFill>
                  <a:srgbClr val="202729"/>
                </a:solidFill>
                <a:latin typeface="Times New Roman" panose="02020603050405020304" charset="0"/>
                <a:cs typeface="Times New Roman" panose="02020603050405020304" charset="0"/>
              </a:rPr>
              <a:t>P r o b l e m   S t a t e m e n t :  A I  - P o w e r e d    D i g i t a l   T w i n   o f     I n d i a ‘s    C l i m a t e    u s i n g    </a:t>
            </a:r>
            <a:endParaRPr lang="en-IN" altLang="en-US" sz="2400" spc="-365" dirty="0">
              <a:solidFill>
                <a:srgbClr val="202729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altLang="en-US" sz="2400" spc="-365" dirty="0">
                <a:solidFill>
                  <a:srgbClr val="202729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                                         I n d i a’s   N a t i o n a l   D a t a</a:t>
            </a:r>
            <a:endParaRPr lang="en-IN" altLang="en-US" sz="2400" spc="-365" dirty="0">
              <a:solidFill>
                <a:srgbClr val="20272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Team</a:t>
            </a:r>
            <a:r>
              <a:rPr spc="-225" dirty="0"/>
              <a:t> </a:t>
            </a:r>
            <a:r>
              <a:rPr spc="-50" dirty="0"/>
              <a:t>Members</a:t>
            </a:r>
            <a:endParaRPr spc="-5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465" y="1532890"/>
          <a:ext cx="9046845" cy="3152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4155"/>
                <a:gridCol w="5012690"/>
              </a:tblGrid>
              <a:tr h="157607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IN" sz="1400">
                          <a:latin typeface="Arial MT"/>
                          <a:cs typeface="Arial MT"/>
                        </a:rPr>
                        <a:t>Team Leader:</a:t>
                      </a:r>
                      <a:endParaRPr lang="en-IN" sz="1400">
                        <a:latin typeface="Arial MT"/>
                        <a:cs typeface="Arial MT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IN" sz="1400">
                          <a:latin typeface="Arial MT"/>
                          <a:cs typeface="Arial MT"/>
                        </a:rPr>
                        <a:t>Name:Ankush Honnalli</a:t>
                      </a:r>
                      <a:endParaRPr lang="en-IN" sz="1400">
                        <a:latin typeface="Arial MT"/>
                        <a:cs typeface="Arial MT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IN" sz="1400">
                          <a:latin typeface="Arial MT"/>
                          <a:cs typeface="Arial MT"/>
                        </a:rPr>
                        <a:t>College:SUK</a:t>
                      </a:r>
                      <a:endParaRPr lang="en-IN"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IN" sz="1400" spc="-10" dirty="0">
                          <a:latin typeface="Arial MT"/>
                          <a:cs typeface="Arial MT"/>
                        </a:rPr>
                        <a:t>Team Member :2</a:t>
                      </a:r>
                      <a:endParaRPr lang="en-IN" sz="1400" spc="-10" dirty="0">
                        <a:latin typeface="Arial MT"/>
                        <a:cs typeface="Arial MT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IN" sz="1400" spc="-10" dirty="0">
                          <a:latin typeface="Arial MT"/>
                          <a:cs typeface="Arial MT"/>
                        </a:rPr>
                        <a:t>Name:Niranjan </a:t>
                      </a:r>
                      <a:endParaRPr lang="en-IN" sz="1400" spc="-10" dirty="0">
                        <a:latin typeface="Arial MT"/>
                        <a:cs typeface="Arial MT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IN" sz="1400" spc="-10" dirty="0">
                          <a:latin typeface="Arial MT"/>
                          <a:cs typeface="Arial MT"/>
                        </a:rPr>
                        <a:t>College:SUK</a:t>
                      </a:r>
                      <a:endParaRPr lang="en-IN" sz="1400" spc="-10" dirty="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57607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IN" sz="1400">
                          <a:latin typeface="Arial MT"/>
                          <a:cs typeface="Arial MT"/>
                        </a:rPr>
                        <a:t>Team Member:1</a:t>
                      </a:r>
                      <a:endParaRPr lang="en-IN" sz="1400">
                        <a:latin typeface="Arial MT"/>
                        <a:cs typeface="Arial MT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IN" sz="1400">
                          <a:latin typeface="Arial MT"/>
                          <a:cs typeface="Arial MT"/>
                        </a:rPr>
                        <a:t>Name:Pruthviraj</a:t>
                      </a:r>
                      <a:endParaRPr lang="en-IN" sz="1400">
                        <a:latin typeface="Arial MT"/>
                        <a:cs typeface="Arial MT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IN" sz="1400">
                          <a:latin typeface="Arial MT"/>
                          <a:cs typeface="Arial MT"/>
                        </a:rPr>
                        <a:t>College: Sanjay Ghodawat University</a:t>
                      </a:r>
                      <a:endParaRPr lang="en-IN"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IN" sz="1400">
                          <a:latin typeface="Arial MT"/>
                          <a:cs typeface="Arial MT"/>
                        </a:rPr>
                        <a:t>Team Member:3</a:t>
                      </a:r>
                      <a:endParaRPr lang="en-IN" sz="1400">
                        <a:latin typeface="Arial MT"/>
                        <a:cs typeface="Arial MT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IN" sz="1400">
                          <a:latin typeface="Arial MT"/>
                          <a:cs typeface="Arial MT"/>
                        </a:rPr>
                        <a:t>Name: Shubham</a:t>
                      </a:r>
                      <a:endParaRPr lang="en-IN" sz="1400">
                        <a:latin typeface="Arial MT"/>
                        <a:cs typeface="Arial MT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IN" sz="1400">
                          <a:latin typeface="Arial MT"/>
                          <a:cs typeface="Arial MT"/>
                        </a:rPr>
                        <a:t>College:Gogte intsitute of technology </a:t>
                      </a:r>
                      <a:endParaRPr lang="en-IN" sz="1400">
                        <a:latin typeface="Arial MT"/>
                        <a:cs typeface="Arial MT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endParaRPr lang="en-IN"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52" y="3638550"/>
            <a:ext cx="2612947" cy="128560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696" y="3602612"/>
            <a:ext cx="2612947" cy="1321543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357" y="3525561"/>
            <a:ext cx="2842591" cy="139859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2031" y="1364858"/>
            <a:ext cx="2290418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1. Al-Driven vs. Slow Math Solvers Our Way: A high-velocity, data-driven Al framework built specifically for the Indian subcontinent's unique weather dynamics.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12449" y="1364858"/>
            <a:ext cx="2159551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2. Live National Data Integration Our Way: A continuous virtual replica blending live INSAT satellite feeds, ground instruments, and 70+ years of IMD history</a:t>
            </a:r>
            <a:r>
              <a:rPr lang="en-US" sz="1400" dirty="0"/>
              <a:t>.</a:t>
            </a:r>
            <a:endParaRPr lang="en-US" sz="1400" dirty="0"/>
          </a:p>
        </p:txBody>
      </p:sp>
      <p:sp>
        <p:nvSpPr>
          <p:cNvPr id="47" name="TextBox 46"/>
          <p:cNvSpPr txBox="1"/>
          <p:nvPr/>
        </p:nvSpPr>
        <p:spPr>
          <a:xfrm>
            <a:off x="4470616" y="1379262"/>
            <a:ext cx="2414104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3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. Interactive "What-If" Simulation Engine Our Way: An active testing engine- change variables (like adding 1°C) to see instant, localized impacts on rainfall and greenhouse gases.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884670" y="1372870"/>
            <a:ext cx="2065020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4. Immersive 3D Visualizations Our Way: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Scannable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, multi-dimensional 3D dashboards (via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CesiumJS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 and </a:t>
            </a:r>
            <a:r>
              <a:rPr lang="en-US" sz="1400" dirty="0" err="1">
                <a:latin typeface="Times New Roman" panose="02020603050405020304" charset="0"/>
                <a:cs typeface="Times New Roman" panose="02020603050405020304" charset="0"/>
              </a:rPr>
              <a:t>Streamlit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) for district-level tracking at a single glance.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04800" y="666750"/>
            <a:ext cx="671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800" b="1"/>
              <a:t>Opportunity Analysis of What Makes Us Different</a:t>
            </a:r>
            <a:r>
              <a:rPr lang="en-IN" altLang="en-US"/>
              <a:t>:</a:t>
            </a:r>
            <a:endParaRPr lang="en-I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98508"/>
            <a:ext cx="4938643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List of features offered by the solution 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Project: 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Al-Powered Climate Digital Twin for India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138" y="2038142"/>
            <a:ext cx="6037671" cy="23031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1600" b="1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r>
              <a:rPr lang="en-US" sz="1600" b="1" dirty="0">
                <a:latin typeface="Times New Roman" panose="02020603050405020304" charset="0"/>
                <a:cs typeface="Times New Roman" panose="02020603050405020304" charset="0"/>
              </a:rPr>
              <a:t>Continuous Virtual Replica &amp; Live National Data Integration 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 blending Satellite and Ground station observations.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90000"/>
              </a:lnSpc>
            </a:pPr>
            <a:r>
              <a:rPr lang="en-US" sz="1600" b="1" dirty="0">
                <a:latin typeface="Times New Roman" panose="02020603050405020304" charset="0"/>
                <a:cs typeface="Times New Roman" panose="02020603050405020304" charset="0"/>
              </a:rPr>
              <a:t>2.High-Velocity FNO-Hybrid Deep Learning </a:t>
            </a:r>
            <a:r>
              <a:rPr lang="en-US" sz="1600" b="1" dirty="0" err="1">
                <a:latin typeface="Times New Roman" panose="02020603050405020304" charset="0"/>
                <a:cs typeface="Times New Roman" panose="02020603050405020304" charset="0"/>
              </a:rPr>
              <a:t>Model:</a:t>
            </a:r>
            <a:r>
              <a:rPr lang="en-US" sz="1600" dirty="0" err="1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 sub-second prediction and inference.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90000"/>
              </a:lnSpc>
            </a:pPr>
            <a:r>
              <a:rPr lang="en-US" sz="1600" b="1" dirty="0">
                <a:latin typeface="Times New Roman" panose="02020603050405020304" charset="0"/>
                <a:cs typeface="Times New Roman" panose="02020603050405020304" charset="0"/>
              </a:rPr>
              <a:t>3.Dynamic 'What-If' Simulation </a:t>
            </a:r>
            <a:r>
              <a:rPr lang="en-US" sz="1600" b="1" dirty="0" err="1">
                <a:latin typeface="Times New Roman" panose="02020603050405020304" charset="0"/>
                <a:cs typeface="Times New Roman" panose="02020603050405020304" charset="0"/>
              </a:rPr>
              <a:t>Engine:</a:t>
            </a:r>
            <a:r>
              <a:rPr lang="en-US" sz="1600" dirty="0" err="1">
                <a:latin typeface="Times New Roman" panose="02020603050405020304" charset="0"/>
                <a:cs typeface="Times New Roman" panose="02020603050405020304" charset="0"/>
              </a:rPr>
              <a:t>district-level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 tracking over terrain via </a:t>
            </a:r>
            <a:r>
              <a:rPr lang="en-US" sz="1600" dirty="0" err="1">
                <a:latin typeface="Times New Roman" panose="02020603050405020304" charset="0"/>
                <a:cs typeface="Times New Roman" panose="02020603050405020304" charset="0"/>
              </a:rPr>
              <a:t>CesiumJS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90000"/>
              </a:lnSpc>
            </a:pPr>
            <a:r>
              <a:rPr lang="en-US" sz="1600" b="1" dirty="0">
                <a:latin typeface="Times New Roman" panose="02020603050405020304" charset="0"/>
                <a:cs typeface="Times New Roman" panose="02020603050405020304" charset="0"/>
              </a:rPr>
              <a:t>4.Physics-Informed Neural Network (PINN) Loss Constraints: 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ensuring realistic outputs and </a:t>
            </a:r>
            <a:r>
              <a:rPr lang="en-US" sz="1600" dirty="0" err="1">
                <a:latin typeface="Times New Roman" panose="02020603050405020304" charset="0"/>
                <a:cs typeface="Times New Roman" panose="02020603050405020304" charset="0"/>
              </a:rPr>
              <a:t>targetis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 &gt;85% prediction accuracy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90000"/>
              </a:lnSpc>
            </a:pPr>
            <a:r>
              <a:rPr lang="en-US" sz="1600" b="1" dirty="0">
                <a:latin typeface="Times New Roman" panose="02020603050405020304" charset="0"/>
                <a:cs typeface="Times New Roman" panose="02020603050405020304" charset="0"/>
              </a:rPr>
              <a:t>5.Scalable Microservices </a:t>
            </a:r>
            <a:r>
              <a:rPr lang="en-US" sz="1600" b="1" dirty="0" err="1">
                <a:latin typeface="Times New Roman" panose="02020603050405020304" charset="0"/>
                <a:cs typeface="Times New Roman" panose="02020603050405020304" charset="0"/>
              </a:rPr>
              <a:t>Architecture:</a:t>
            </a:r>
            <a:r>
              <a:rPr lang="en-US" sz="1600" dirty="0" err="1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</a:rPr>
              <a:t> national deployment scenarios.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0850" y="708065"/>
            <a:ext cx="2759206" cy="16350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850" y="2764574"/>
            <a:ext cx="2648947" cy="19411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810" y="928370"/>
            <a:ext cx="8380095" cy="339661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6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endParaRPr sz="16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" y="561340"/>
            <a:ext cx="9108440" cy="44761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810" y="928370"/>
            <a:ext cx="8441055" cy="341693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6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4350"/>
            <a:ext cx="9144635" cy="449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37515" y="892810"/>
            <a:ext cx="8248650" cy="3752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I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" y="575310"/>
            <a:ext cx="9004300" cy="44342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666827"/>
            <a:ext cx="3729354" cy="258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65" dirty="0">
                <a:latin typeface="Times New Roman" panose="02020603050405020304" charset="0"/>
                <a:cs typeface="Times New Roman" panose="02020603050405020304" charset="0"/>
              </a:rPr>
              <a:t>Technologies</a:t>
            </a:r>
            <a:r>
              <a:rPr sz="1600" spc="-1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 spc="-4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1600" spc="-1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 spc="-35" dirty="0">
                <a:latin typeface="Times New Roman" panose="02020603050405020304" charset="0"/>
                <a:cs typeface="Times New Roman" panose="02020603050405020304" charset="0"/>
              </a:rPr>
              <a:t>be</a:t>
            </a:r>
            <a:r>
              <a:rPr sz="1600" spc="-1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 spc="-65" dirty="0">
                <a:latin typeface="Times New Roman" panose="02020603050405020304" charset="0"/>
                <a:cs typeface="Times New Roman" panose="02020603050405020304" charset="0"/>
              </a:rPr>
              <a:t>used</a:t>
            </a:r>
            <a:r>
              <a:rPr sz="1600" spc="-1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 spc="-85" dirty="0"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sz="1600" spc="-1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 spc="-50"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1600" spc="-1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 spc="-65" dirty="0">
                <a:latin typeface="Times New Roman" panose="02020603050405020304" charset="0"/>
                <a:cs typeface="Times New Roman" panose="02020603050405020304" charset="0"/>
              </a:rPr>
              <a:t>solution: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525" y="1017270"/>
            <a:ext cx="4107815" cy="38982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435" y="1109345"/>
            <a:ext cx="3444875" cy="31934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928447"/>
            <a:ext cx="39592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0" dirty="0">
                <a:latin typeface="Verdana" panose="020B0604030504040204"/>
                <a:cs typeface="Verdana" panose="020B0604030504040204"/>
              </a:rPr>
              <a:t>Estimated</a:t>
            </a:r>
            <a:r>
              <a:rPr sz="1600" spc="-13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75" dirty="0">
                <a:latin typeface="Verdana" panose="020B0604030504040204"/>
                <a:cs typeface="Verdana" panose="020B0604030504040204"/>
              </a:rPr>
              <a:t>implementation</a:t>
            </a:r>
            <a:r>
              <a:rPr sz="1600" spc="-13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25" dirty="0">
                <a:latin typeface="Verdana" panose="020B0604030504040204"/>
                <a:cs typeface="Verdana" panose="020B0604030504040204"/>
              </a:rPr>
              <a:t>cost</a:t>
            </a:r>
            <a:r>
              <a:rPr sz="1600" spc="-13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85" dirty="0">
                <a:latin typeface="Verdana" panose="020B0604030504040204"/>
                <a:cs typeface="Verdana" panose="020B0604030504040204"/>
              </a:rPr>
              <a:t>(optional):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655" y="-5080"/>
            <a:ext cx="7050405" cy="47390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276350"/>
            <a:ext cx="4419600" cy="3962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93850"/>
            <a:ext cx="4216400" cy="30854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1933</Words>
  <Application>WPS Presentation</Application>
  <PresentationFormat>On-screen Show (16:9)</PresentationFormat>
  <Paragraphs>50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Verdana</vt:lpstr>
      <vt:lpstr>Arial MT</vt:lpstr>
      <vt:lpstr>Times New Roman</vt:lpstr>
      <vt:lpstr>Tahoma</vt:lpstr>
      <vt:lpstr>Microsoft YaHei</vt:lpstr>
      <vt:lpstr>Arial Unicode MS</vt:lpstr>
      <vt:lpstr>Calibri</vt:lpstr>
      <vt:lpstr>Times New Roman</vt:lpstr>
      <vt:lpstr>Office Theme</vt:lpstr>
      <vt:lpstr>PowerPoint 演示文稿</vt:lpstr>
      <vt:lpstr>Team Members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[Pub] ISRO BAH 2026 | Idea Submission Template</dc:title>
  <dc:creator/>
  <cp:lastModifiedBy>gwale</cp:lastModifiedBy>
  <cp:revision>13</cp:revision>
  <dcterms:created xsi:type="dcterms:W3CDTF">2026-06-24T06:05:00Z</dcterms:created>
  <dcterms:modified xsi:type="dcterms:W3CDTF">2026-06-30T15:45:49Z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2026-06-24T05:30:00Z</vt:filetime>
  </property>
  <property fmtid="{D5CDD505-2E9C-101B-9397-08002B2CF9AE}" pid="4" name="Creator">
    <vt:lpwstr>Google</vt:lpwstr>
  </property>
  <property fmtid="{D5CDD505-2E9C-101B-9397-08002B2CF9AE}" pid="5" name="LastSaved">
    <vt:filetime>2026-06-24T05:30:00Z</vt:filetime>
  </property>
  <property fmtid="{D5CDD505-2E9C-101B-9397-08002B2CF9AE}" pid="6" name="KSOProductBuildVer">
    <vt:lpwstr>1033-12.1.0.26880</vt:lpwstr>
  </property>
  <property fmtid="{D5CDD505-2E9C-101B-9397-08002B2CF9AE}" pid="7" name="ICV">
    <vt:lpwstr>6E0685850FF64CB8B7FEA18BF4DD00A7_12</vt:lpwstr>
  </property>
</Properties>
</file>