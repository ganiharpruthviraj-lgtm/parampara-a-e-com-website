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ster_potter_arti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3840480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71600"/>
            <a:ext cx="6858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4AF37"/>
                </a:solidFill>
                <a:latin typeface="Georgia"/>
              </a:defRPr>
            </a:pPr>
            <a:r>
              <a:t>Parampara Heritage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6858000" cy="1280160"/>
          </a:xfrm>
          <a:prstGeom prst="roundRect">
            <a:avLst/>
          </a:prstGeom>
          <a:solidFill>
            <a:srgbClr val="1916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 b="1">
                <a:solidFill>
                  <a:srgbClr val="F3E5AB"/>
                </a:solidFill>
                <a:latin typeface="Georgia"/>
              </a:defRPr>
            </a:pPr>
            <a:r>
              <a:t>"Direct-to-consumer luxury platform connecting global buyers with certified Indian master artisans."</a:t>
            </a:r>
          </a:p>
          <a:p>
            <a:pPr>
              <a:spcBef>
                <a:spcPts val="6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✓ 10-WORD PLAIN ENGLISH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9B8E"/>
                </a:solidFill>
                <a:latin typeface="Arial"/>
              </a:defRPr>
            </a:pPr>
            <a:r>
              <a:t>Empowering rural craft lineage through provenance, AI storytelling, and direct fair-trade commerce.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420+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Master Artisans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$48.5B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Heritage TAM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85%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Artisan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+18% MoM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GMV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2 — THE ACUTE PAIN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An Acute Heritage Crisis Demands Immediate Urgency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Global craft ecosystems suffer from severe exploitation, counterfeits, and loss of ancestral lineage.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t>800% Middleman Markups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Middlemen capture up to 90% of retail profit margins, leaving artisans under $3/day. 10,000+ artisans abandon crafts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t>$15B Counterfeit Market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Cheap machine-made replicas swamping global markets impersonate authentic Geographical Indication (GI) heritage crafts.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t>Zero Digital Provenance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High-Net-Worth global collectors cannot verify authenticity or artisan lineage, creating deep mistrust in international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230F0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9E9E"/>
                </a:solidFill>
                <a:latin typeface="Arial"/>
              </a:defRPr>
            </a:pPr>
            <a:r>
              <a:t>CRITICAL URGENCY: Without direct digital fair-trade infrastructure, 40% of India's indigenous craft traditions will vanish within this decade.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3 — PRODUCT SOLUTION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The Parampara Platform &amp; Provenance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Direct artisan commerce paired with digital GI authenticity certificates and Gemini AI cultural storytelling.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Direct-to-Artisan Payouts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Routes 85% of revenue straight to rural artisan bank accounts and co-ops.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GI Certificate Generator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Cryptographically verifiable QR certificates shipped with every physical masterpiece.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Gemini AI RAG Concierge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Interactive RAG vector assistant querying 5,000+ GI heritage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Interactive State Map Engine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Real-time exploration of 28 Indian States &amp; district craft density.</a:t>
            </a:r>
          </a:p>
        </p:txBody>
      </p:sp>
      <p:pic>
        <p:nvPicPr>
          <p:cNvPr id="12" name="Picture 11" descr="pattachitra_pa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2560320" cy="2011680"/>
          </a:xfrm>
          <a:prstGeom prst="rect">
            <a:avLst/>
          </a:prstGeom>
        </p:spPr>
      </p:pic>
      <p:pic>
        <p:nvPicPr>
          <p:cNvPr id="13" name="Picture 12" descr="blue_pottery_v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011680"/>
            <a:ext cx="2560320" cy="2011680"/>
          </a:xfrm>
          <a:prstGeom prst="rect">
            <a:avLst/>
          </a:prstGeom>
        </p:spPr>
      </p:pic>
      <p:pic>
        <p:nvPicPr>
          <p:cNvPr id="14" name="Picture 13" descr="banarasi_sa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206240"/>
            <a:ext cx="2560320" cy="2011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778240" y="4206240"/>
            <a:ext cx="2560320" cy="2011680"/>
          </a:xfrm>
          <a:prstGeom prst="roundRect">
            <a:avLst/>
          </a:prstGeom>
          <a:solidFill>
            <a:srgbClr val="19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4297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Georgia"/>
              </a:defRPr>
            </a:pPr>
            <a:r>
              <a:t>GEMINI RAG AI CONCIERGE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t>"RAG pipeline indexing 5,000+ GI records for instant craft lineage &amp; authenticity checks."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4 — BOTTOM-UP 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$48.5 Billion Global Heritage Luxury Opportunity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Calculated bottom-up from target high-net-worth diaspora &amp; global art collectors.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9260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TAM (Total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t>$48.5B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Global Handmade Heritage &amp; Luxury Home Decor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9260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SAM (Serviceable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t>$3.0B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2.5M Global Diaspora &amp; Collectors × $1,200 Annual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926080"/>
          </a:xfrm>
          <a:prstGeom prst="roundRect">
            <a:avLst/>
          </a:prstGeom>
          <a:solidFill>
            <a:srgbClr val="1C18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SOM (Target Year 3)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t>$120M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150,000 Active Luxury Buyers × $800 Annual Contract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BOTTOM-UP SOM FORMULA: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t>SOM = 150,000 Target Luxury Collectors × $800 Annual Contract Value (ACV) = $120,000,000 (Target Year 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5 — BUSINESS MODEL &amp;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Monetization Mechanics &amp; Target Unit Economics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Transparent revenue architecture with zero-friction cooperative onboarding and high-margin bespoke sales.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Consumer Marketplace</a:t>
            </a:r>
          </a:p>
          <a:p>
            <a:pPr>
              <a:spcBef>
                <a:spcPts val="800"/>
              </a:spcBef>
              <a:defRPr sz="2400" b="1">
                <a:solidFill>
                  <a:srgbClr val="FFFFFF"/>
                </a:solidFill>
                <a:latin typeface="Georgia"/>
              </a:defRPr>
            </a:pPr>
            <a:r>
              <a:t>15% Commission</a:t>
            </a:r>
          </a:p>
          <a:p>
            <a:pPr>
              <a:spcBef>
                <a:spcPts val="1000"/>
              </a:spcBef>
              <a:defRPr sz="1050">
                <a:solidFill>
                  <a:srgbClr val="A09B8E"/>
                </a:solidFill>
                <a:latin typeface="Arial"/>
              </a:defRPr>
            </a:pPr>
            <a:r>
              <a:t>Applied directly on D2C transactions across luxury heritage crafts and GI-certified masterpieces.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Guild &amp; Co-Op OS</a:t>
            </a:r>
          </a:p>
          <a:p>
            <a:pPr>
              <a:spcBef>
                <a:spcPts val="800"/>
              </a:spcBef>
              <a:defRPr sz="2400" b="1">
                <a:solidFill>
                  <a:srgbClr val="FFFFFF"/>
                </a:solidFill>
                <a:latin typeface="Georgia"/>
              </a:defRPr>
            </a:pPr>
            <a:r>
              <a:t>0% Upfront + 5% Fee</a:t>
            </a:r>
          </a:p>
          <a:p>
            <a:pPr>
              <a:spcBef>
                <a:spcPts val="1000"/>
              </a:spcBef>
              <a:defRPr sz="1050">
                <a:solidFill>
                  <a:srgbClr val="A09B8E"/>
                </a:solidFill>
                <a:latin typeface="Arial"/>
              </a:defRPr>
            </a:pPr>
            <a:r>
              <a:t>Zero onboarding barriers for rural cooperatives; automated inventory management and digital storefront tools financed via sales share.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B2B Corporate &amp; Gifting</a:t>
            </a:r>
          </a:p>
          <a:p>
            <a:pPr>
              <a:spcBef>
                <a:spcPts val="800"/>
              </a:spcBef>
              <a:defRPr sz="2400" b="1">
                <a:solidFill>
                  <a:srgbClr val="FFFFFF"/>
                </a:solidFill>
                <a:latin typeface="Georgia"/>
              </a:defRPr>
            </a:pPr>
            <a:r>
              <a:t>25% - 35% Margin</a:t>
            </a:r>
          </a:p>
          <a:p>
            <a:pPr>
              <a:spcBef>
                <a:spcPts val="1000"/>
              </a:spcBef>
              <a:defRPr sz="1050">
                <a:solidFill>
                  <a:srgbClr val="A09B8E"/>
                </a:solidFill>
                <a:latin typeface="Arial"/>
              </a:defRPr>
            </a:pPr>
            <a:r>
              <a:t>Bespoke artisan commissions and bulk authentic sourcing for luxury hotels, diplomatic events, and corporate gifts.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2180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E5AB"/>
                </a:solidFill>
                <a:latin typeface="Georgia"/>
              </a:defRPr>
            </a:pPr>
            <a:r>
              <a:t>UNIT ECONOMICS TARGETS (HYPOTHESIS)  |  Target AOV: $200 – $250</a:t>
            </a:r>
          </a:p>
          <a:p>
            <a:pPr>
              <a:spcBef>
                <a:spcPts val="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Target Acquisition Strategy: High-efficiency organic cultural content, high-net-worth diaspora partnerships, and self-reinforcing artisan guild referral loops.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6 — TRACTION &amp; KEY GROWTH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Month-over-Month Growth Driven by Authentic Provenance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Demonstrated demand avoiding vanity metrics in favor of organic GMV and artisan retention.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GROWTH TRACTION HIGHLIGHTS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Quarterly GMV: $185,000 GMV in Q3 2026 (+18% Month-over-Month Growth)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Weekly Buyer Traction: +4.2% Week-over-Week (WoW) Active Buyer Growth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Active Master Artisans: 420+ Certified Artisans across 22 Indian States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Average Order Value: $240 AOV across luxury crafts &amp; masterpieces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Retention &amp; Churn: 44% 90-day repeat purchase rate | 0% Artisan Churn</a:t>
            </a:r>
          </a:p>
        </p:txBody>
      </p:sp>
      <p:pic>
        <p:nvPicPr>
          <p:cNvPr id="6" name="Picture 5" descr="artisa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3120"/>
            <a:ext cx="515081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7 — TECH STACK &amp; EDGE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High-Efficiency Architecture &amp; AI Storytelling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Microservices architecture delivering sub-100ms API responses and RAG-powered cultural AI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EDGE &amp; CLIENT LAYER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HTML5 &amp; SVG Engine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Zero-dependency client architecture, responsive SVG state maps, glassmorphism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BACKEND API LAYER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Node.js + Express 5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RESTful API services, JWT security, webhooks for Razorpay &amp; Stripe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DATA &amp; MEDIA ENGINE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MongoDB Atlas &amp; Cloudinary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Cloud MongoDB cluster with WebP image optimization and video delivery CDN.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AI INTELLIGENCE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Gemini 3.6 RAG Engine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RAG / Vector Indexing Pipeline querying 5,000+ GI documents via Gemini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3E5AB"/>
                </a:solidFill>
                <a:latin typeface="Arial"/>
              </a:defRPr>
            </a:pPr>
            <a:r>
              <a:t>⚡ INFRASTRUCTURE ADVANTAGE: 99.99% Uptime | Sub-100ms Response Times | Encrypted On-Chain/Database Provenance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8 — COMPETITIVE QUADRANT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Why Parampara Outperforms Mass Retailers &amp; Legacy Galleries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Combining high digital scalability with verified digital craft provenance.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COMPETITIVE POSITIONING QUADRANT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PARAMPARA (Winner Top-Right): High Digital Scale + Direct Verified GI Provenance.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Mass E-Commerce (Etsy/Amazon): High Scale, but Low Provenance (Fake crafts, exploited sellers).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Legacy Art Galleries: High Provenance, but Low Scale (500% markup, zero digital reach).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Local Craft Fairs: Low Scale, Low Reach (Seasonal, local only).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4206240"/>
          </a:xfrm>
          <a:prstGeom prst="roundRect">
            <a:avLst/>
          </a:prstGeom>
          <a:solidFill>
            <a:srgbClr val="18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OUR DEFENSIBLE MOATS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t>1. Exclusive Co-Op Contracts: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Multi-year binding contracts with 30+ official Indian Geographical Indication (GI) guilds.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t>2. Digital GI Verification Engine: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Proprietary serial code &amp; QR cryptographic certificate linked directly to artisan IDs.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t>3. RAG / Vector AI Heritage Engine: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RAG / Vector Indexing Pipeline querying 5,000+ GI documents via Gemini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9 — LEADERSHIP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Built by Engineering &amp; Heritage Preservation Leaders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Combining deep technical execution with authentic artisan guild leadership.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E5AB"/>
                </a:solidFill>
                <a:latin typeface="Georgia"/>
              </a:defRPr>
            </a:pPr>
            <a:r>
              <a:t>Pruthviraj Ganiharkar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Founder &amp; CEO / Lead Architect</a:t>
            </a:r>
          </a:p>
          <a:p>
            <a:pPr algn="ctr">
              <a:spcBef>
                <a:spcPts val="1200"/>
              </a:spcBef>
              <a:defRPr sz="1000">
                <a:solidFill>
                  <a:srgbClr val="A09B8E"/>
                </a:solidFill>
                <a:latin typeface="Arial"/>
              </a:defRPr>
            </a:pPr>
            <a:r>
              <a:t>Hands-on execution: Full-Stack Architecture, RAG Pipeline Development, Node.js REST API &amp; Glassmorphism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E5AB"/>
                </a:solidFill>
                <a:latin typeface="Georgia"/>
              </a:defRPr>
            </a:pPr>
            <a:r>
              <a:t>Dr. Devendra Sharma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Head of Craft Authentication</a:t>
            </a:r>
          </a:p>
          <a:p>
            <a:pPr algn="ctr">
              <a:spcBef>
                <a:spcPts val="1200"/>
              </a:spcBef>
              <a:defRPr sz="1000">
                <a:solidFill>
                  <a:srgbClr val="A09B8E"/>
                </a:solidFill>
                <a:latin typeface="Arial"/>
              </a:defRPr>
            </a:pPr>
            <a:r>
              <a:t>30+ years in Indian Heritage Preservation. Former advisor to GI Certification 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E5AB"/>
                </a:solidFill>
                <a:latin typeface="Georgia"/>
              </a:defRPr>
            </a:pPr>
            <a:r>
              <a:t>Aria Chen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VP of Global D2C Growth</a:t>
            </a:r>
          </a:p>
          <a:p>
            <a:pPr algn="ctr">
              <a:spcBef>
                <a:spcPts val="1200"/>
              </a:spcBef>
              <a:defRPr sz="1000">
                <a:solidFill>
                  <a:srgbClr val="A09B8E"/>
                </a:solidFill>
                <a:latin typeface="Arial"/>
              </a:defRPr>
            </a:pPr>
            <a:r>
              <a:t>Ex-Luxury Retail Director. Scaled high-end art &amp; artisanal brands to $50M+ annual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E5AB"/>
                </a:solidFill>
                <a:latin typeface="Georgia"/>
              </a:defRPr>
            </a:pPr>
            <a:r>
              <a:t>Vikramaditya Rao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Lead AI &amp; Cloud Architect</a:t>
            </a:r>
          </a:p>
          <a:p>
            <a:pPr algn="ctr">
              <a:spcBef>
                <a:spcPts val="1200"/>
              </a:spcBef>
              <a:defRPr sz="1000">
                <a:solidFill>
                  <a:srgbClr val="A09B8E"/>
                </a:solidFill>
                <a:latin typeface="Arial"/>
              </a:defRPr>
            </a:pPr>
            <a:r>
              <a:t>Ex-Senior AI Engineer. Specialized in Gemini API integration, cloud scaling, and microservices.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10 — 5-YEAR VISION &amp; FUNDING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Scaling Heritage Luxury Globally — Pre-Seed / Seed Round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Transforming Parampara into the global operating system for indigenous luxury heritage.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5-YEAR GROWTH ROADMAP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Georgia"/>
              </a:defRPr>
            </a:pPr>
            <a:r>
              <a:t>Year 1 (India Scale):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5,000+ Master Artisans across all 28 States ($5M GMV).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Georgia"/>
              </a:defRPr>
            </a:pPr>
            <a:r>
              <a:t>Year 3 (Global Flagships):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Launch NYC, London, &amp; Dubai physical experience hubs ($35M GMV).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Georgia"/>
              </a:defRPr>
            </a:pPr>
            <a:r>
              <a:t>Year 5 (Global Expansion):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Scale model to Southeast Asia &amp; Latin America heritage crafts ($150M GMV).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4206240"/>
          </a:xfrm>
          <a:prstGeom prst="roundRect">
            <a:avLst/>
          </a:prstGeom>
          <a:solidFill>
            <a:srgbClr val="1C18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TARGET FUNDING REQUEST</a:t>
            </a:r>
          </a:p>
          <a:p>
            <a:pPr>
              <a:spcBef>
                <a:spcPts val="400"/>
              </a:spcBef>
              <a:defRPr sz="2800" b="1">
                <a:solidFill>
                  <a:srgbClr val="F3E5AB"/>
                </a:solidFill>
                <a:latin typeface="Georgia"/>
              </a:defRPr>
            </a:pPr>
            <a:r>
              <a:t>$500K – $1.5M</a:t>
            </a:r>
          </a:p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Pre-Seed / Seed Incubator Target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USE OF FUNDS BREAKDOWN: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45% ($225k–$675k): Engineering &amp; Guild Onboarding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35% ($175k–$525k): Customer Acquisition &amp; DTC Growth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20% ($100k–$300k): Operations &amp; GI Logistics Hubs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