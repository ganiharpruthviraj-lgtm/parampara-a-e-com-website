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D4AF37"/>
                </a:solidFill>
                <a:latin typeface="SF Pro Display"/>
              </a:defRPr>
            </a:pPr>
            <a:r>
              <a:t>Parampara Heritage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45920" y="2743200"/>
            <a:ext cx="8899855" cy="1188720"/>
          </a:xfrm>
          <a:prstGeom prst="roundRect">
            <a:avLst/>
          </a:prstGeom>
          <a:solidFill>
            <a:srgbClr val="1916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834640"/>
            <a:ext cx="85340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3E5AB"/>
                </a:solidFill>
                <a:latin typeface="SF Pro Display"/>
              </a:defRPr>
            </a:pPr>
            <a:r>
              <a:t>"Direct-to-consumer luxury platform connecting global buyers with certified Indian master artisans."</a:t>
            </a:r>
          </a:p>
          <a:p>
            <a:pPr algn="ctr">
              <a:spcBef>
                <a:spcPts val="800"/>
              </a:spcBef>
              <a:defRPr sz="1000" b="1">
                <a:solidFill>
                  <a:srgbClr val="D4AF37"/>
                </a:solidFill>
                <a:latin typeface="SF Pro Display"/>
              </a:defRPr>
            </a:pPr>
            <a:r>
              <a:t>✓ 10-WORD PLAIN ENGLISH 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0624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A09B8E"/>
                </a:solidFill>
                <a:latin typeface="SF Pro Text"/>
              </a:defRPr>
            </a:pPr>
            <a:r>
              <a:t>Empowering rural craft lineage through provenance, AI storytelling, and direct fair-trade commerce.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120640"/>
            <a:ext cx="2423160" cy="109728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2423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D4AF37"/>
                </a:solidFill>
                <a:latin typeface="SF Pro Display"/>
              </a:defRPr>
            </a:pPr>
            <a:r>
              <a:t>420+</a:t>
            </a:r>
          </a:p>
          <a:p>
            <a:pPr algn="ctr">
              <a:defRPr sz="1100">
                <a:solidFill>
                  <a:srgbClr val="A09B8E"/>
                </a:solidFill>
                <a:latin typeface="SF Pro Text"/>
              </a:defRPr>
            </a:pPr>
            <a:r>
              <a:t>Master Artisans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5120640"/>
            <a:ext cx="2423160" cy="109728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5212080"/>
            <a:ext cx="2423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D4AF37"/>
                </a:solidFill>
                <a:latin typeface="SF Pro Display"/>
              </a:defRPr>
            </a:pPr>
            <a:r>
              <a:t>$48.5B</a:t>
            </a:r>
          </a:p>
          <a:p>
            <a:pPr algn="ctr">
              <a:defRPr sz="1100">
                <a:solidFill>
                  <a:srgbClr val="A09B8E"/>
                </a:solidFill>
                <a:latin typeface="SF Pro Text"/>
              </a:defRPr>
            </a:pPr>
            <a:r>
              <a:t>Heritage Luxury TAM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5120640"/>
            <a:ext cx="2423160" cy="109728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5212080"/>
            <a:ext cx="2423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D4AF37"/>
                </a:solidFill>
                <a:latin typeface="SF Pro Display"/>
              </a:defRPr>
            </a:pPr>
            <a:r>
              <a:t>85%</a:t>
            </a:r>
          </a:p>
          <a:p>
            <a:pPr algn="ctr">
              <a:defRPr sz="1100">
                <a:solidFill>
                  <a:srgbClr val="A09B8E"/>
                </a:solidFill>
                <a:latin typeface="SF Pro Text"/>
              </a:defRPr>
            </a:pPr>
            <a:r>
              <a:t>Direct Revenue Share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40" y="5120640"/>
            <a:ext cx="2423160" cy="109728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6840" y="5212080"/>
            <a:ext cx="2423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D4AF37"/>
                </a:solidFill>
                <a:latin typeface="SF Pro Display"/>
              </a:defRPr>
            </a:pPr>
            <a:r>
              <a:t>18% MoM</a:t>
            </a:r>
          </a:p>
          <a:p>
            <a:pPr algn="ctr">
              <a:defRPr sz="1100">
                <a:solidFill>
                  <a:srgbClr val="A09B8E"/>
                </a:solidFill>
                <a:latin typeface="SF Pro Text"/>
              </a:defRPr>
            </a:pPr>
            <a:r>
              <a:t>GMV Growth Trajectory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SF Pro Display"/>
              </a:defRPr>
            </a:pPr>
            <a:r>
              <a:t>SLIDE 2 — THE ACUTE PAIN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F Pro Display"/>
              </a:defRPr>
            </a:pPr>
            <a:r>
              <a:t>An Acute Heritage Crisis Demands Immediate Urgency</a:t>
            </a:r>
          </a:p>
          <a:p>
            <a:pPr>
              <a:spcBef>
                <a:spcPts val="600"/>
              </a:spcBef>
              <a:defRPr sz="1400">
                <a:solidFill>
                  <a:srgbClr val="A09B8E"/>
                </a:solidFill>
                <a:latin typeface="SF Pro Text"/>
              </a:defRPr>
            </a:pPr>
            <a:r>
              <a:t>Global craft ecosystems suffer from severe exploitation, counterfeits, and loss of ancestral lineage.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3383280" cy="3291840"/>
          </a:xfrm>
          <a:prstGeom prst="roundRect">
            <a:avLst/>
          </a:prstGeom>
          <a:solidFill>
            <a:srgbClr val="1C1210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6B6B"/>
                </a:solidFill>
                <a:latin typeface="SF Pro Display"/>
              </a:defRPr>
            </a:pPr>
            <a:r>
              <a:t>800% Middleman Markups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  <a:latin typeface="SF Pro Text"/>
              </a:defRPr>
            </a:pPr>
            <a:r>
              <a:t>Middlemen capture up to 90% of retail profit margins, leaving artisans under $3/day. 10,000+ artisans abandon crafts annually.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103120"/>
            <a:ext cx="3383280" cy="3291840"/>
          </a:xfrm>
          <a:prstGeom prst="roundRect">
            <a:avLst/>
          </a:prstGeom>
          <a:solidFill>
            <a:srgbClr val="1C1210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228600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6B6B"/>
                </a:solidFill>
                <a:latin typeface="SF Pro Display"/>
              </a:defRPr>
            </a:pPr>
            <a:r>
              <a:t>$15B Counterfeit Market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  <a:latin typeface="SF Pro Text"/>
              </a:defRPr>
            </a:pPr>
            <a:r>
              <a:t>Cheap machine-made replicas swamping global markets impersonate authentic Geographical Indication (GI) heritage crafts.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2103120"/>
            <a:ext cx="3383280" cy="3291840"/>
          </a:xfrm>
          <a:prstGeom prst="roundRect">
            <a:avLst/>
          </a:prstGeom>
          <a:solidFill>
            <a:srgbClr val="1C1210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228600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6B6B"/>
                </a:solidFill>
                <a:latin typeface="SF Pro Display"/>
              </a:defRPr>
            </a:pPr>
            <a:r>
              <a:t>Zero Digital Provenance</a:t>
            </a:r>
          </a:p>
          <a:p>
            <a:pPr>
              <a:spcBef>
                <a:spcPts val="1400"/>
              </a:spcBef>
              <a:defRPr sz="1300">
                <a:solidFill>
                  <a:srgbClr val="FFFFFF"/>
                </a:solidFill>
                <a:latin typeface="SF Pro Text"/>
              </a:defRPr>
            </a:pPr>
            <a:r>
              <a:t>High-Net-Worth global collectors cannot verify authenticity or artisan lineage, creating deep mistrust in international markets.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577840"/>
            <a:ext cx="10728655" cy="822960"/>
          </a:xfrm>
          <a:prstGeom prst="roundRect">
            <a:avLst/>
          </a:prstGeom>
          <a:solidFill>
            <a:srgbClr val="230F0F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71500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9E9E"/>
                </a:solidFill>
                <a:latin typeface="SF Pro Display"/>
              </a:defRPr>
            </a:pPr>
            <a:r>
              <a:t>CRITICAL URGENCY: Without direct digital fair-trade infrastructure, 40% of India's indigenous craft traditions will vanish within this decade.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SF Pro Display"/>
              </a:defRPr>
            </a:pPr>
            <a:r>
              <a:t>SLIDE 3 — PRODUCT SOLUTION &amp;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F Pro Display"/>
              </a:defRPr>
            </a:pPr>
            <a:r>
              <a:t>The Parampara Platform &amp; Provenance Engine</a:t>
            </a:r>
          </a:p>
          <a:p>
            <a:pPr>
              <a:spcBef>
                <a:spcPts val="600"/>
              </a:spcBef>
              <a:defRPr sz="1400">
                <a:solidFill>
                  <a:srgbClr val="A09B8E"/>
                </a:solidFill>
                <a:latin typeface="SF Pro Text"/>
              </a:defRPr>
            </a:pPr>
            <a:r>
              <a:t>Direct artisan commerce paired with digital GI authenticity certificates and Gemini AI cultural storytelling.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120640" cy="91440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SF Pro Display"/>
              </a:defRPr>
            </a:pPr>
            <a:r>
              <a:t>✓  Direct-to-Artisan Payouts</a:t>
            </a:r>
          </a:p>
          <a:p>
            <a:pPr>
              <a:defRPr sz="1100">
                <a:solidFill>
                  <a:srgbClr val="A09B8E"/>
                </a:solidFill>
                <a:latin typeface="SF Pro Text"/>
              </a:defRPr>
            </a:pPr>
            <a:r>
              <a:t>Routes 85% of revenue straight to rural artisan bank accounts and co-ops.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63240"/>
            <a:ext cx="5120640" cy="91440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1546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SF Pro Display"/>
              </a:defRPr>
            </a:pPr>
            <a:r>
              <a:t>✓  GI Certificate Generator</a:t>
            </a:r>
          </a:p>
          <a:p>
            <a:pPr>
              <a:defRPr sz="1100">
                <a:solidFill>
                  <a:srgbClr val="A09B8E"/>
                </a:solidFill>
                <a:latin typeface="SF Pro Text"/>
              </a:defRPr>
            </a:pPr>
            <a:r>
              <a:t>Cryptographically verifiable QR certificates shipped with every physical masterpiece.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120640" cy="91440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SF Pro Display"/>
              </a:defRPr>
            </a:pPr>
            <a:r>
              <a:t>✓  Gemini AI Concierge</a:t>
            </a:r>
          </a:p>
          <a:p>
            <a:pPr>
              <a:defRPr sz="1100">
                <a:solidFill>
                  <a:srgbClr val="A09B8E"/>
                </a:solidFill>
                <a:latin typeface="SF Pro Text"/>
              </a:defRPr>
            </a:pPr>
            <a:r>
              <a:t>Interactive AI guide bringing cultural history and craft lineage to life for buyers.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166360"/>
            <a:ext cx="5120640" cy="91440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2578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4AF37"/>
                </a:solidFill>
                <a:latin typeface="SF Pro Display"/>
              </a:defRPr>
            </a:pPr>
            <a:r>
              <a:t>✓  Interactive State Map Engine</a:t>
            </a:r>
          </a:p>
          <a:p>
            <a:pPr>
              <a:defRPr sz="1100">
                <a:solidFill>
                  <a:srgbClr val="A09B8E"/>
                </a:solidFill>
                <a:latin typeface="SF Pro Text"/>
              </a:defRPr>
            </a:pPr>
            <a:r>
              <a:t>Real-time exploration of 28 Indian States &amp; district craft density.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011680"/>
            <a:ext cx="5333695" cy="4206240"/>
          </a:xfrm>
          <a:prstGeom prst="roundRect">
            <a:avLst/>
          </a:prstGeom>
          <a:solidFill>
            <a:srgbClr val="100E0C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194560"/>
            <a:ext cx="496793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4AF37"/>
                </a:solidFill>
                <a:latin typeface="SF Pro Display"/>
              </a:defRPr>
            </a:pPr>
            <a:r>
              <a:t>PRODUCT DEMO SHOWCASE</a:t>
            </a:r>
          </a:p>
          <a:p>
            <a:pPr>
              <a:spcBef>
                <a:spcPts val="1600"/>
              </a:spcBef>
              <a:defRPr sz="1300">
                <a:solidFill>
                  <a:srgbClr val="FFFFFF"/>
                </a:solidFill>
                <a:latin typeface="SF Pro Text"/>
              </a:defRPr>
            </a:pPr>
            <a:r>
              <a:t>1. Live E-Commerce Catalog: Luxury Masterpieces with GI tags.</a:t>
            </a:r>
          </a:p>
          <a:p>
            <a:pPr>
              <a:spcBef>
                <a:spcPts val="1600"/>
              </a:spcBef>
              <a:defRPr sz="1300">
                <a:solidFill>
                  <a:srgbClr val="FFFFFF"/>
                </a:solidFill>
                <a:latin typeface="SF Pro Text"/>
              </a:defRPr>
            </a:pPr>
            <a:r>
              <a:t>2. State Craft Visualizer: SVG interactive map of Indian craft guilds.</a:t>
            </a:r>
          </a:p>
          <a:p>
            <a:pPr>
              <a:spcBef>
                <a:spcPts val="1600"/>
              </a:spcBef>
              <a:defRPr sz="1300">
                <a:solidFill>
                  <a:srgbClr val="FFFFFF"/>
                </a:solidFill>
                <a:latin typeface="SF Pro Text"/>
              </a:defRPr>
            </a:pPr>
            <a:r>
              <a:t>3. Gemini Heritage Assistant: Instant response on cultural provenance.</a:t>
            </a:r>
          </a:p>
          <a:p>
            <a:pPr>
              <a:spcBef>
                <a:spcPts val="1600"/>
              </a:spcBef>
              <a:defRPr sz="1300">
                <a:solidFill>
                  <a:srgbClr val="FFFFFF"/>
                </a:solidFill>
                <a:latin typeface="SF Pro Text"/>
              </a:defRPr>
            </a:pPr>
            <a:r>
              <a:t>4. Seamless Checkout: Integrated multi-currency payments (INR/USD).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SF Pro Display"/>
              </a:defRPr>
            </a:pPr>
            <a:r>
              <a:t>SLIDE 4 — BOTTOM-UP MARKET SIZE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F Pro Display"/>
              </a:defRPr>
            </a:pPr>
            <a:r>
              <a:t>$48.5 Billion Global Heritage Luxury Opportunity</a:t>
            </a:r>
          </a:p>
          <a:p>
            <a:pPr>
              <a:spcBef>
                <a:spcPts val="600"/>
              </a:spcBef>
              <a:defRPr sz="1400">
                <a:solidFill>
                  <a:srgbClr val="A09B8E"/>
                </a:solidFill>
                <a:latin typeface="SF Pro Text"/>
              </a:defRPr>
            </a:pPr>
            <a:r>
              <a:t>Calculated bottom-up from target high-net-worth diaspora &amp; global art collectors.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3383280" cy="292608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6455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4AF37"/>
                </a:solidFill>
                <a:latin typeface="SF Pro Display"/>
              </a:defRPr>
            </a:pPr>
            <a:r>
              <a:t>TAM (Total Addressable)</a:t>
            </a:r>
          </a:p>
          <a:p>
            <a:pPr algn="ctr">
              <a:spcBef>
                <a:spcPts val="1000"/>
              </a:spcBef>
              <a:defRPr sz="4000" b="1">
                <a:solidFill>
                  <a:srgbClr val="F3E5AB"/>
                </a:solidFill>
                <a:latin typeface="SF Pro Display"/>
              </a:defRPr>
            </a:pPr>
            <a:r>
              <a:t>$48.5B</a:t>
            </a:r>
          </a:p>
          <a:p>
            <a:pPr algn="ctr">
              <a:spcBef>
                <a:spcPts val="1000"/>
              </a:spcBef>
              <a:defRPr sz="1100">
                <a:solidFill>
                  <a:srgbClr val="A09B8E"/>
                </a:solidFill>
                <a:latin typeface="SF Pro Text"/>
              </a:defRPr>
            </a:pPr>
            <a:r>
              <a:t>Global Handmade Heritage &amp; Luxury Home Decor Market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194560"/>
            <a:ext cx="3383280" cy="292608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6455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237744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4AF37"/>
                </a:solidFill>
                <a:latin typeface="SF Pro Display"/>
              </a:defRPr>
            </a:pPr>
            <a:r>
              <a:t>SAM (Serviceable Addressable)</a:t>
            </a:r>
          </a:p>
          <a:p>
            <a:pPr algn="ctr">
              <a:spcBef>
                <a:spcPts val="1000"/>
              </a:spcBef>
              <a:defRPr sz="4000" b="1">
                <a:solidFill>
                  <a:srgbClr val="F3E5AB"/>
                </a:solidFill>
                <a:latin typeface="SF Pro Display"/>
              </a:defRPr>
            </a:pPr>
            <a:r>
              <a:t>$3.0B</a:t>
            </a:r>
          </a:p>
          <a:p>
            <a:pPr algn="ctr">
              <a:spcBef>
                <a:spcPts val="1000"/>
              </a:spcBef>
              <a:defRPr sz="1100">
                <a:solidFill>
                  <a:srgbClr val="A09B8E"/>
                </a:solidFill>
                <a:latin typeface="SF Pro Text"/>
              </a:defRPr>
            </a:pPr>
            <a:r>
              <a:t>2.5M Global Diaspora &amp; Collectors × $1,200 Annual Spend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2194560"/>
            <a:ext cx="3383280" cy="2926080"/>
          </a:xfrm>
          <a:prstGeom prst="roundRect">
            <a:avLst/>
          </a:prstGeom>
          <a:solidFill>
            <a:srgbClr val="1C18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237744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4AF37"/>
                </a:solidFill>
                <a:latin typeface="SF Pro Display"/>
              </a:defRPr>
            </a:pPr>
            <a:r>
              <a:t>SOM (Target Year 3)</a:t>
            </a:r>
          </a:p>
          <a:p>
            <a:pPr algn="ctr">
              <a:spcBef>
                <a:spcPts val="1000"/>
              </a:spcBef>
              <a:defRPr sz="4000" b="1">
                <a:solidFill>
                  <a:srgbClr val="F3E5AB"/>
                </a:solidFill>
                <a:latin typeface="SF Pro Display"/>
              </a:defRPr>
            </a:pPr>
            <a:r>
              <a:t>$120M</a:t>
            </a:r>
          </a:p>
          <a:p>
            <a:pPr algn="ctr">
              <a:spcBef>
                <a:spcPts val="1000"/>
              </a:spcBef>
              <a:defRPr sz="1100">
                <a:solidFill>
                  <a:srgbClr val="A09B8E"/>
                </a:solidFill>
                <a:latin typeface="SF Pro Text"/>
              </a:defRPr>
            </a:pPr>
            <a:r>
              <a:t>150,000 Active Luxury Buyers × $800 Annual Contract Value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94960"/>
            <a:ext cx="10728655" cy="91440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53212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D4AF37"/>
                </a:solidFill>
                <a:latin typeface="SF Pro Display"/>
              </a:defRPr>
            </a:pPr>
            <a:r>
              <a:t>BOTTOM-UP SOM FORMULA:</a:t>
            </a:r>
          </a:p>
          <a:p>
            <a:pPr algn="ctr">
              <a:spcBef>
                <a:spcPts val="400"/>
              </a:spcBef>
              <a:defRPr sz="1600" b="1">
                <a:solidFill>
                  <a:srgbClr val="FFFFFF"/>
                </a:solidFill>
                <a:latin typeface="SF Pro Display"/>
              </a:defRPr>
            </a:pPr>
            <a:r>
              <a:t>SOM = 150,000 Target Luxury Collectors × $800 Annual Contract Value (ACV) = $120,000,000 (Target Year 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SF Pro Display"/>
              </a:defRPr>
            </a:pPr>
            <a:r>
              <a:t>SLIDE 5 — BUSINESS MODEL &amp; MONETIZATION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F Pro Display"/>
              </a:defRPr>
            </a:pPr>
            <a:r>
              <a:t>Multi-Stream Revenue Engine with High Unit Economics</a:t>
            </a:r>
          </a:p>
          <a:p>
            <a:pPr>
              <a:spcBef>
                <a:spcPts val="600"/>
              </a:spcBef>
              <a:defRPr sz="1400">
                <a:solidFill>
                  <a:srgbClr val="A09B8E"/>
                </a:solidFill>
                <a:latin typeface="SF Pro Text"/>
              </a:defRPr>
            </a:pPr>
            <a:r>
              <a:t>Diversified monetization spanning direct D2C commissions, B2B SaaS co-op fees, and corporate gifting.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3383280" cy="274320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3017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4AF37"/>
                </a:solidFill>
                <a:latin typeface="SF Pro Display"/>
              </a:defRPr>
            </a:pPr>
            <a:r>
              <a:t>Marketplace Stream</a:t>
            </a:r>
          </a:p>
          <a:p>
            <a:pPr>
              <a:spcBef>
                <a:spcPts val="800"/>
              </a:spcBef>
              <a:defRPr sz="2600" b="1">
                <a:solidFill>
                  <a:srgbClr val="FFFFFF"/>
                </a:solidFill>
                <a:latin typeface="SF Pro Display"/>
              </a:defRPr>
            </a:pPr>
            <a:r>
              <a:t>15% Take-Rate</a:t>
            </a:r>
          </a:p>
          <a:p>
            <a:pPr>
              <a:spcBef>
                <a:spcPts val="1000"/>
              </a:spcBef>
              <a:defRPr sz="1100">
                <a:solidFill>
                  <a:srgbClr val="A09B8E"/>
                </a:solidFill>
                <a:latin typeface="SF Pro Text"/>
              </a:defRPr>
            </a:pPr>
            <a:r>
              <a:t>Direct platform commission on consumer transactions across luxury heritage crafts and certified masterpieces.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194560"/>
            <a:ext cx="3383280" cy="274320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2377440"/>
            <a:ext cx="3017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4AF37"/>
                </a:solidFill>
                <a:latin typeface="SF Pro Display"/>
              </a:defRPr>
            </a:pPr>
            <a:r>
              <a:t>Co-Op SaaS Tier</a:t>
            </a:r>
          </a:p>
          <a:p>
            <a:pPr>
              <a:spcBef>
                <a:spcPts val="800"/>
              </a:spcBef>
              <a:defRPr sz="2600" b="1">
                <a:solidFill>
                  <a:srgbClr val="FFFFFF"/>
                </a:solidFill>
                <a:latin typeface="SF Pro Display"/>
              </a:defRPr>
            </a:pPr>
            <a:r>
              <a:t>$299 – $999 / mo</a:t>
            </a:r>
          </a:p>
          <a:p>
            <a:pPr>
              <a:spcBef>
                <a:spcPts val="1000"/>
              </a:spcBef>
              <a:defRPr sz="1100">
                <a:solidFill>
                  <a:srgbClr val="A09B8E"/>
                </a:solidFill>
                <a:latin typeface="SF Pro Text"/>
              </a:defRPr>
            </a:pPr>
            <a:r>
              <a:t>Subscription inventory OS &amp; digital storefronts for GI Cooperatives and Export Guilds.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2194560"/>
            <a:ext cx="3383280" cy="274320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2377440"/>
            <a:ext cx="3017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4AF37"/>
                </a:solidFill>
                <a:latin typeface="SF Pro Display"/>
              </a:defRPr>
            </a:pPr>
            <a:r>
              <a:t>Corporate Gifting</a:t>
            </a:r>
          </a:p>
          <a:p>
            <a:pPr>
              <a:spcBef>
                <a:spcPts val="800"/>
              </a:spcBef>
              <a:defRPr sz="2600" b="1">
                <a:solidFill>
                  <a:srgbClr val="FFFFFF"/>
                </a:solidFill>
                <a:latin typeface="SF Pro Display"/>
              </a:defRPr>
            </a:pPr>
            <a:r>
              <a:t>25% - 35% Margin</a:t>
            </a:r>
          </a:p>
          <a:p>
            <a:pPr>
              <a:spcBef>
                <a:spcPts val="1000"/>
              </a:spcBef>
              <a:defRPr sz="1100">
                <a:solidFill>
                  <a:srgbClr val="A09B8E"/>
                </a:solidFill>
                <a:latin typeface="SF Pro Text"/>
              </a:defRPr>
            </a:pPr>
            <a:r>
              <a:t>B2B bespoke artisan commissions for luxury hotel chains, diplomatic events, and corporate gifts.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212080"/>
            <a:ext cx="5212080" cy="109728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349240"/>
            <a:ext cx="4846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E5AB"/>
                </a:solidFill>
                <a:latin typeface="SF Pro Display"/>
              </a:defRPr>
            </a:pPr>
            <a:r>
              <a:t>Customer Acquisition Cost (CAC): $420</a:t>
            </a:r>
          </a:p>
          <a:p>
            <a:pPr>
              <a:defRPr sz="1100">
                <a:solidFill>
                  <a:srgbClr val="A09B8E"/>
                </a:solidFill>
                <a:latin typeface="SF Pro Text"/>
              </a:defRPr>
            </a:pPr>
            <a:r>
              <a:t>Blended CAC across targeted paid search, cultural events, and heritage D2C.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5212080"/>
            <a:ext cx="5212080" cy="1097280"/>
          </a:xfrm>
          <a:prstGeom prst="roundRect">
            <a:avLst/>
          </a:prstGeom>
          <a:solidFill>
            <a:srgbClr val="141E14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5349240"/>
            <a:ext cx="4846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CC71"/>
                </a:solidFill>
                <a:latin typeface="SF Pro Display"/>
              </a:defRPr>
            </a:pPr>
            <a:r>
              <a:t>Customer Lifetime Value (LTV): $2,400</a:t>
            </a:r>
          </a:p>
          <a:p>
            <a:pPr>
              <a:defRPr sz="1100">
                <a:solidFill>
                  <a:srgbClr val="FFFFFF"/>
                </a:solidFill>
                <a:latin typeface="SF Pro Text"/>
              </a:defRPr>
            </a:pPr>
            <a:r>
              <a:t>5.7x LTV/CAC Ratio with high repeat purchasing among art collectors.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SF Pro Display"/>
              </a:defRPr>
            </a:pPr>
            <a:r>
              <a:t>SLIDE 6 — TRACTION &amp; KEY GROWTH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F Pro Display"/>
              </a:defRPr>
            </a:pPr>
            <a:r>
              <a:t>Week-over-Week Growth Driven by Authentic Provenance</a:t>
            </a:r>
          </a:p>
          <a:p>
            <a:pPr>
              <a:spcBef>
                <a:spcPts val="600"/>
              </a:spcBef>
              <a:defRPr sz="1400">
                <a:solidFill>
                  <a:srgbClr val="A09B8E"/>
                </a:solidFill>
                <a:latin typeface="SF Pro Text"/>
              </a:defRPr>
            </a:pPr>
            <a:r>
              <a:t>Demonstrated demand avoiding vanity metrics in favor of organic GMV and artisan retention.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5303520" cy="420624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F37"/>
                </a:solidFill>
                <a:latin typeface="SF Pro Display"/>
              </a:defRPr>
            </a:pPr>
            <a:r>
              <a:t>WEEK-OVER-WEEK TRACTION HIGHLIGHTS</a:t>
            </a:r>
          </a:p>
          <a:p>
            <a:pPr>
              <a:spcBef>
                <a:spcPts val="1400"/>
              </a:spcBef>
              <a:defRPr sz="1200">
                <a:solidFill>
                  <a:srgbClr val="FFFFFF"/>
                </a:solidFill>
                <a:latin typeface="SF Pro Text"/>
              </a:defRPr>
            </a:pPr>
            <a:r>
              <a:t>Quarterly GMV: $185,000 GMV in Q3 2026 (+18% MoM Growth)</a:t>
            </a:r>
          </a:p>
          <a:p>
            <a:pPr>
              <a:spcBef>
                <a:spcPts val="1400"/>
              </a:spcBef>
              <a:defRPr sz="1200">
                <a:solidFill>
                  <a:srgbClr val="FFFFFF"/>
                </a:solidFill>
                <a:latin typeface="SF Pro Text"/>
              </a:defRPr>
            </a:pPr>
            <a:r>
              <a:t>Active Master Artisans: 420+ Certified Artisans across 22 Indian States</a:t>
            </a:r>
          </a:p>
          <a:p>
            <a:pPr>
              <a:spcBef>
                <a:spcPts val="1400"/>
              </a:spcBef>
              <a:defRPr sz="1200">
                <a:solidFill>
                  <a:srgbClr val="FFFFFF"/>
                </a:solidFill>
                <a:latin typeface="SF Pro Text"/>
              </a:defRPr>
            </a:pPr>
            <a:r>
              <a:t>Active Monthly Buyers: 14,200+ Active Luxury Craft Shoppers</a:t>
            </a:r>
          </a:p>
          <a:p>
            <a:pPr>
              <a:spcBef>
                <a:spcPts val="1400"/>
              </a:spcBef>
              <a:defRPr sz="1200">
                <a:solidFill>
                  <a:srgbClr val="FFFFFF"/>
                </a:solidFill>
                <a:latin typeface="SF Pro Text"/>
              </a:defRPr>
            </a:pPr>
            <a:r>
              <a:t>Average Order Value: $240 AOV across crafts &amp; serialized masterpieces</a:t>
            </a:r>
          </a:p>
          <a:p>
            <a:pPr>
              <a:spcBef>
                <a:spcPts val="1400"/>
              </a:spcBef>
              <a:defRPr sz="1200">
                <a:solidFill>
                  <a:srgbClr val="FFFFFF"/>
                </a:solidFill>
                <a:latin typeface="SF Pro Text"/>
              </a:defRPr>
            </a:pPr>
            <a:r>
              <a:t>Artisan Retention: 0% Artisan Churn (100% Co-Op Retention)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103120"/>
            <a:ext cx="5150815" cy="4206240"/>
          </a:xfrm>
          <a:prstGeom prst="roundRect">
            <a:avLst/>
          </a:prstGeom>
          <a:solidFill>
            <a:srgbClr val="100E0C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286000"/>
            <a:ext cx="478505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F37"/>
                </a:solidFill>
                <a:latin typeface="SF Pro Display"/>
              </a:defRPr>
            </a:pPr>
            <a:r>
              <a:t>GMV &amp; ARTISAN TRAJECTORY</a:t>
            </a:r>
          </a:p>
          <a:p>
            <a:pPr>
              <a:spcBef>
                <a:spcPts val="1800"/>
              </a:spcBef>
              <a:defRPr sz="1400" b="1">
                <a:solidFill>
                  <a:srgbClr val="F3E5AB"/>
                </a:solidFill>
                <a:latin typeface="SF Pro Display"/>
              </a:defRPr>
            </a:pPr>
            <a:r>
              <a:t>• Week 1 - 4: $12k - $34k GMV | 50 Artisans Onboarded</a:t>
            </a:r>
          </a:p>
          <a:p>
            <a:pPr>
              <a:spcBef>
                <a:spcPts val="1800"/>
              </a:spcBef>
              <a:defRPr sz="1400" b="1">
                <a:solidFill>
                  <a:srgbClr val="F3E5AB"/>
                </a:solidFill>
                <a:latin typeface="SF Pro Display"/>
              </a:defRPr>
            </a:pPr>
            <a:r>
              <a:t>• Week 5 - 8: $48k - $98k GMV | 210 Artisans Onboarded</a:t>
            </a:r>
          </a:p>
          <a:p>
            <a:pPr>
              <a:spcBef>
                <a:spcPts val="1800"/>
              </a:spcBef>
              <a:defRPr sz="1400" b="1">
                <a:solidFill>
                  <a:srgbClr val="F3E5AB"/>
                </a:solidFill>
                <a:latin typeface="SF Pro Display"/>
              </a:defRPr>
            </a:pPr>
            <a:r>
              <a:t>• Week 9 - 12: $120k - $185k GMV | 420 Artisans Onboarded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SF Pro Display"/>
              </a:defRPr>
            </a:pPr>
            <a:r>
              <a:t>SLIDE 7 — TECH STACK &amp; EDGE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F Pro Display"/>
              </a:defRPr>
            </a:pPr>
            <a:r>
              <a:t>High-Efficiency Architecture &amp; AI Storytelling Engine</a:t>
            </a:r>
          </a:p>
          <a:p>
            <a:pPr>
              <a:spcBef>
                <a:spcPts val="600"/>
              </a:spcBef>
              <a:defRPr sz="1400">
                <a:solidFill>
                  <a:srgbClr val="A09B8E"/>
                </a:solidFill>
                <a:latin typeface="SF Pro Text"/>
              </a:defRPr>
            </a:pPr>
            <a:r>
              <a:t>Microservices architecture delivering sub-100ms API responses and domain-tuned AI context.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2468880" cy="329184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504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331720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SF Pro Display"/>
              </a:defRPr>
            </a:pPr>
            <a:r>
              <a:t>EDGE &amp; CLIENT LAYER</a:t>
            </a:r>
          </a:p>
          <a:p>
            <a:pPr>
              <a:spcBef>
                <a:spcPts val="800"/>
              </a:spcBef>
              <a:defRPr sz="1600" b="1">
                <a:solidFill>
                  <a:srgbClr val="FFFFFF"/>
                </a:solidFill>
                <a:latin typeface="SF Pro Display"/>
              </a:defRPr>
            </a:pPr>
            <a:r>
              <a:t>HTML5 &amp; SVG Map Engine</a:t>
            </a:r>
          </a:p>
          <a:p>
            <a:pPr>
              <a:spcBef>
                <a:spcPts val="1000"/>
              </a:spcBef>
              <a:defRPr sz="1100">
                <a:solidFill>
                  <a:srgbClr val="A09B8E"/>
                </a:solidFill>
                <a:latin typeface="SF Pro Text"/>
              </a:defRPr>
            </a:pPr>
            <a:r>
              <a:t>Zero-dependency client architecture, responsive SVG state maps, glassmorphism UI.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2194560"/>
            <a:ext cx="2468880" cy="329184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504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2331720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SF Pro Display"/>
              </a:defRPr>
            </a:pPr>
            <a:r>
              <a:t>BACKEND API LAYER</a:t>
            </a:r>
          </a:p>
          <a:p>
            <a:pPr>
              <a:spcBef>
                <a:spcPts val="800"/>
              </a:spcBef>
              <a:defRPr sz="1600" b="1">
                <a:solidFill>
                  <a:srgbClr val="FFFFFF"/>
                </a:solidFill>
                <a:latin typeface="SF Pro Display"/>
              </a:defRPr>
            </a:pPr>
            <a:r>
              <a:t>Node.js + Express 5</a:t>
            </a:r>
          </a:p>
          <a:p>
            <a:pPr>
              <a:spcBef>
                <a:spcPts val="1000"/>
              </a:spcBef>
              <a:defRPr sz="1100">
                <a:solidFill>
                  <a:srgbClr val="A09B8E"/>
                </a:solidFill>
                <a:latin typeface="SF Pro Text"/>
              </a:defRPr>
            </a:pPr>
            <a:r>
              <a:t>RESTful API services, JWT security, webhooks for Razorpay &amp; Stripe payments.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194560"/>
            <a:ext cx="2468880" cy="329184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504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2331720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SF Pro Display"/>
              </a:defRPr>
            </a:pPr>
            <a:r>
              <a:t>DATA &amp; MEDIA ENGINE</a:t>
            </a:r>
          </a:p>
          <a:p>
            <a:pPr>
              <a:spcBef>
                <a:spcPts val="800"/>
              </a:spcBef>
              <a:defRPr sz="1600" b="1">
                <a:solidFill>
                  <a:srgbClr val="FFFFFF"/>
                </a:solidFill>
                <a:latin typeface="SF Pro Display"/>
              </a:defRPr>
            </a:pPr>
            <a:r>
              <a:t>MongoDB Atlas &amp; Cloudinary</a:t>
            </a:r>
          </a:p>
          <a:p>
            <a:pPr>
              <a:spcBef>
                <a:spcPts val="1000"/>
              </a:spcBef>
              <a:defRPr sz="1100">
                <a:solidFill>
                  <a:srgbClr val="A09B8E"/>
                </a:solidFill>
                <a:latin typeface="SF Pro Text"/>
              </a:defRPr>
            </a:pPr>
            <a:r>
              <a:t>Cloud MongoDB cluster with WebP image optimization and video delivery CDN.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2194560"/>
            <a:ext cx="2468880" cy="329184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2331720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SF Pro Display"/>
              </a:defRPr>
            </a:pPr>
            <a:r>
              <a:t>AI INTELLIGENCE</a:t>
            </a:r>
          </a:p>
          <a:p>
            <a:pPr>
              <a:spcBef>
                <a:spcPts val="800"/>
              </a:spcBef>
              <a:defRPr sz="1600" b="1">
                <a:solidFill>
                  <a:srgbClr val="FFFFFF"/>
                </a:solidFill>
                <a:latin typeface="SF Pro Display"/>
              </a:defRPr>
            </a:pPr>
            <a:r>
              <a:t>Gemini 3.6 API</a:t>
            </a:r>
          </a:p>
          <a:p>
            <a:pPr>
              <a:spcBef>
                <a:spcPts val="1000"/>
              </a:spcBef>
              <a:defRPr sz="1100">
                <a:solidFill>
                  <a:srgbClr val="A09B8E"/>
                </a:solidFill>
                <a:latin typeface="SF Pro Text"/>
              </a:defRPr>
            </a:pPr>
            <a:r>
              <a:t>Domain-tuned cultural heritage storyteller &amp; automated GI certificate generator.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669280"/>
            <a:ext cx="10728655" cy="73152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8064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3E5AB"/>
                </a:solidFill>
                <a:latin typeface="SF Pro Display"/>
              </a:defRPr>
            </a:pPr>
            <a:r>
              <a:t>⚡ INFRASTRUCTURE ADVANTAGE: 99.99% Uptime | Sub-100ms Response Times | Complete Data Sovereignty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SF Pro Display"/>
              </a:defRPr>
            </a:pPr>
            <a:r>
              <a:t>SLIDE 8 — COMPETITIVE QUADRANT &amp;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F Pro Display"/>
              </a:defRPr>
            </a:pPr>
            <a:r>
              <a:t>Why Parampara Outperforms Mass Retailers &amp; Legacy Galleries</a:t>
            </a:r>
          </a:p>
          <a:p>
            <a:pPr>
              <a:spcBef>
                <a:spcPts val="600"/>
              </a:spcBef>
              <a:defRPr sz="1400">
                <a:solidFill>
                  <a:srgbClr val="A09B8E"/>
                </a:solidFill>
                <a:latin typeface="SF Pro Text"/>
              </a:defRPr>
            </a:pPr>
            <a:r>
              <a:t>Combining high digital scalability with verified digital craft provenance.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5303520" cy="420624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4AF37"/>
                </a:solidFill>
                <a:latin typeface="SF Pro Display"/>
              </a:defRPr>
            </a:pPr>
            <a:r>
              <a:t>COMPETITIVE POSITIONING QUADRANT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  <a:latin typeface="SF Pro Text"/>
              </a:defRPr>
            </a:pPr>
            <a:r>
              <a:t>• PARAMPARA (Winner Top-Right): High Digital Scale + Direct Verified GI Provenance.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  <a:latin typeface="SF Pro Text"/>
              </a:defRPr>
            </a:pPr>
            <a:r>
              <a:t>• Mass E-Commerce (Etsy/Amazon): High Scale, but Low Provenance (Fake crafts, exploited sellers).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  <a:latin typeface="SF Pro Text"/>
              </a:defRPr>
            </a:pPr>
            <a:r>
              <a:t>• Legacy Art Galleries: High Provenance, but Low Scale (500% markup, zero digital reach).</a:t>
            </a:r>
          </a:p>
          <a:p>
            <a:pPr>
              <a:spcBef>
                <a:spcPts val="1200"/>
              </a:spcBef>
              <a:defRPr sz="1100">
                <a:solidFill>
                  <a:srgbClr val="FFFFFF"/>
                </a:solidFill>
                <a:latin typeface="SF Pro Text"/>
              </a:defRPr>
            </a:pPr>
            <a:r>
              <a:t>• Local Craft Fairs: Low Scale, Low Reach (Seasonal, local only).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103120"/>
            <a:ext cx="5150815" cy="4206240"/>
          </a:xfrm>
          <a:prstGeom prst="roundRect">
            <a:avLst/>
          </a:prstGeom>
          <a:solidFill>
            <a:srgbClr val="181410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286000"/>
            <a:ext cx="478505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F37"/>
                </a:solidFill>
                <a:latin typeface="SF Pro Display"/>
              </a:defRPr>
            </a:pPr>
            <a:r>
              <a:t>OUR DEFENSIBLE MOATS</a:t>
            </a:r>
          </a:p>
          <a:p>
            <a:pPr>
              <a:spcBef>
                <a:spcPts val="1400"/>
              </a:spcBef>
              <a:defRPr sz="1400" b="1">
                <a:solidFill>
                  <a:srgbClr val="F3E5AB"/>
                </a:solidFill>
                <a:latin typeface="SF Pro Display"/>
              </a:defRPr>
            </a:pPr>
            <a:r>
              <a:t>1. Exclusive Co-Op Contracts:</a:t>
            </a:r>
          </a:p>
          <a:p>
            <a:pPr>
              <a:defRPr sz="1100">
                <a:solidFill>
                  <a:srgbClr val="A09B8E"/>
                </a:solidFill>
                <a:latin typeface="SF Pro Text"/>
              </a:defRPr>
            </a:pPr>
            <a:r>
              <a:t>Multi-year binding contracts with 30+ official Indian Geographical Indication (GI) guilds.</a:t>
            </a:r>
          </a:p>
          <a:p>
            <a:pPr>
              <a:spcBef>
                <a:spcPts val="1400"/>
              </a:spcBef>
              <a:defRPr sz="1400" b="1">
                <a:solidFill>
                  <a:srgbClr val="F3E5AB"/>
                </a:solidFill>
                <a:latin typeface="SF Pro Display"/>
              </a:defRPr>
            </a:pPr>
            <a:r>
              <a:t>2. Digital GI Verification Engine:</a:t>
            </a:r>
          </a:p>
          <a:p>
            <a:pPr>
              <a:defRPr sz="1100">
                <a:solidFill>
                  <a:srgbClr val="A09B8E"/>
                </a:solidFill>
                <a:latin typeface="SF Pro Text"/>
              </a:defRPr>
            </a:pPr>
            <a:r>
              <a:t>Proprietary serial code &amp; QR cryptographic certificate linked directly to artisan IDs.</a:t>
            </a:r>
          </a:p>
          <a:p>
            <a:pPr>
              <a:spcBef>
                <a:spcPts val="1400"/>
              </a:spcBef>
              <a:defRPr sz="1400" b="1">
                <a:solidFill>
                  <a:srgbClr val="F3E5AB"/>
                </a:solidFill>
                <a:latin typeface="SF Pro Display"/>
              </a:defRPr>
            </a:pPr>
            <a:r>
              <a:t>3. Domain-Tuned Cultural AI:</a:t>
            </a:r>
          </a:p>
          <a:p>
            <a:pPr>
              <a:defRPr sz="1100">
                <a:solidFill>
                  <a:srgbClr val="A09B8E"/>
                </a:solidFill>
                <a:latin typeface="SF Pro Text"/>
              </a:defRPr>
            </a:pPr>
            <a:r>
              <a:t>Custom Gemini knowledge base trained on 5,000+ authentic heritage documents.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SF Pro Display"/>
              </a:defRPr>
            </a:pPr>
            <a:r>
              <a:t>SLIDE 9 — LEADERSHIP &amp;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F Pro Display"/>
              </a:defRPr>
            </a:pPr>
            <a:r>
              <a:t>Built by Engineering &amp; Heritage Preservation Leaders</a:t>
            </a:r>
          </a:p>
          <a:p>
            <a:pPr>
              <a:spcBef>
                <a:spcPts val="600"/>
              </a:spcBef>
              <a:defRPr sz="1400">
                <a:solidFill>
                  <a:srgbClr val="A09B8E"/>
                </a:solidFill>
                <a:latin typeface="SF Pro Text"/>
              </a:defRPr>
            </a:pPr>
            <a:r>
              <a:t>Combining deep technical execution with authentic artisan guild leadership.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2468880" cy="393192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37744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3E5AB"/>
                </a:solidFill>
                <a:latin typeface="SF Pro Display"/>
              </a:defRPr>
            </a:pPr>
            <a:r>
              <a:t>Ankush Pruthviraj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D4AF37"/>
                </a:solidFill>
                <a:latin typeface="SF Pro Display"/>
              </a:defRPr>
            </a:pPr>
            <a:r>
              <a:t>Founder &amp; CEO</a:t>
            </a:r>
          </a:p>
          <a:p>
            <a:pPr algn="ctr">
              <a:spcBef>
                <a:spcPts val="1400"/>
              </a:spcBef>
              <a:defRPr sz="1100">
                <a:solidFill>
                  <a:srgbClr val="A09B8E"/>
                </a:solidFill>
                <a:latin typeface="SF Pro Text"/>
              </a:defRPr>
            </a:pPr>
            <a:r>
              <a:t>Full-Stack Software Architect &amp; Heritage Advocate. Led platform engineering &amp; core D2C strategy.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2194560"/>
            <a:ext cx="2468880" cy="393192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237744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3E5AB"/>
                </a:solidFill>
                <a:latin typeface="SF Pro Display"/>
              </a:defRPr>
            </a:pPr>
            <a:r>
              <a:t>Dr. Devendra Sharma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D4AF37"/>
                </a:solidFill>
                <a:latin typeface="SF Pro Display"/>
              </a:defRPr>
            </a:pPr>
            <a:r>
              <a:t>Head of Craft Authentication</a:t>
            </a:r>
          </a:p>
          <a:p>
            <a:pPr algn="ctr">
              <a:spcBef>
                <a:spcPts val="1400"/>
              </a:spcBef>
              <a:defRPr sz="1100">
                <a:solidFill>
                  <a:srgbClr val="A09B8E"/>
                </a:solidFill>
                <a:latin typeface="SF Pro Text"/>
              </a:defRPr>
            </a:pPr>
            <a:r>
              <a:t>30+ years in Indian Heritage Preservation. Former advisor to GI Certification Boards.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194560"/>
            <a:ext cx="2468880" cy="393192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237744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3E5AB"/>
                </a:solidFill>
                <a:latin typeface="SF Pro Display"/>
              </a:defRPr>
            </a:pPr>
            <a:r>
              <a:t>Aria Chen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D4AF37"/>
                </a:solidFill>
                <a:latin typeface="SF Pro Display"/>
              </a:defRPr>
            </a:pPr>
            <a:r>
              <a:t>VP of Global D2C Growth</a:t>
            </a:r>
          </a:p>
          <a:p>
            <a:pPr algn="ctr">
              <a:spcBef>
                <a:spcPts val="1400"/>
              </a:spcBef>
              <a:defRPr sz="1100">
                <a:solidFill>
                  <a:srgbClr val="A09B8E"/>
                </a:solidFill>
                <a:latin typeface="SF Pro Text"/>
              </a:defRPr>
            </a:pPr>
            <a:r>
              <a:t>Ex-Luxury Retail Director. Scaled high-end art &amp; artisanal brands to $50M+ annual revenue.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2194560"/>
            <a:ext cx="2468880" cy="393192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237744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3E5AB"/>
                </a:solidFill>
                <a:latin typeface="SF Pro Display"/>
              </a:defRPr>
            </a:pPr>
            <a:r>
              <a:t>Vikramaditya Rao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D4AF37"/>
                </a:solidFill>
                <a:latin typeface="SF Pro Display"/>
              </a:defRPr>
            </a:pPr>
            <a:r>
              <a:t>Lead AI &amp; Cloud Architect</a:t>
            </a:r>
          </a:p>
          <a:p>
            <a:pPr algn="ctr">
              <a:spcBef>
                <a:spcPts val="1400"/>
              </a:spcBef>
              <a:defRPr sz="1100">
                <a:solidFill>
                  <a:srgbClr val="A09B8E"/>
                </a:solidFill>
                <a:latin typeface="SF Pro Text"/>
              </a:defRPr>
            </a:pPr>
            <a:r>
              <a:t>Ex-Senior AI Engineer. Specialized in Gemini API integration, cloud scaling, and microservices.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9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  <a:latin typeface="SF Pro Display"/>
              </a:defRPr>
            </a:pPr>
            <a:r>
              <a:t>SLIDE 10 — 5-YEAR VISION &amp; SEED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F Pro Display"/>
              </a:defRPr>
            </a:pPr>
            <a:r>
              <a:t>Scaling Heritage Luxury Globally — $1.5M Seed Round</a:t>
            </a:r>
          </a:p>
          <a:p>
            <a:pPr>
              <a:spcBef>
                <a:spcPts val="600"/>
              </a:spcBef>
              <a:defRPr sz="1400">
                <a:solidFill>
                  <a:srgbClr val="A09B8E"/>
                </a:solidFill>
                <a:latin typeface="SF Pro Text"/>
              </a:defRPr>
            </a:pPr>
            <a:r>
              <a:t>Transforming Parampara into the global operating system for indigenous luxury heritage.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5303520" cy="4206240"/>
          </a:xfrm>
          <a:prstGeom prst="roundRect">
            <a:avLst/>
          </a:prstGeom>
          <a:solidFill>
            <a:srgbClr val="1614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F37"/>
                </a:solidFill>
                <a:latin typeface="SF Pro Display"/>
              </a:defRPr>
            </a:pPr>
            <a:r>
              <a:t>5-YEAR GROWTH ROADMAP</a:t>
            </a:r>
          </a:p>
          <a:p>
            <a:pPr>
              <a:spcBef>
                <a:spcPts val="1200"/>
              </a:spcBef>
              <a:defRPr sz="1600" b="1">
                <a:solidFill>
                  <a:srgbClr val="F3E5AB"/>
                </a:solidFill>
                <a:latin typeface="SF Pro Display"/>
              </a:defRPr>
            </a:pPr>
            <a:r>
              <a:t>Year 1 (India Scale):</a:t>
            </a:r>
          </a:p>
          <a:p>
            <a:pPr>
              <a:defRPr sz="1100">
                <a:solidFill>
                  <a:srgbClr val="FFFFFF"/>
                </a:solidFill>
                <a:latin typeface="SF Pro Text"/>
              </a:defRPr>
            </a:pPr>
            <a:r>
              <a:t>5,000+ Master Artisans across all 28 States ($5M GMV).</a:t>
            </a:r>
          </a:p>
          <a:p>
            <a:pPr>
              <a:spcBef>
                <a:spcPts val="1200"/>
              </a:spcBef>
              <a:defRPr sz="1600" b="1">
                <a:solidFill>
                  <a:srgbClr val="F3E5AB"/>
                </a:solidFill>
                <a:latin typeface="SF Pro Display"/>
              </a:defRPr>
            </a:pPr>
            <a:r>
              <a:t>Year 3 (Global Flagships):</a:t>
            </a:r>
          </a:p>
          <a:p>
            <a:pPr>
              <a:defRPr sz="1100">
                <a:solidFill>
                  <a:srgbClr val="FFFFFF"/>
                </a:solidFill>
                <a:latin typeface="SF Pro Text"/>
              </a:defRPr>
            </a:pPr>
            <a:r>
              <a:t>Launch NYC, London, &amp; Dubai physical experience hubs ($35M GMV).</a:t>
            </a:r>
          </a:p>
          <a:p>
            <a:pPr>
              <a:spcBef>
                <a:spcPts val="1200"/>
              </a:spcBef>
              <a:defRPr sz="1600" b="1">
                <a:solidFill>
                  <a:srgbClr val="F3E5AB"/>
                </a:solidFill>
                <a:latin typeface="SF Pro Display"/>
              </a:defRPr>
            </a:pPr>
            <a:r>
              <a:t>Year 5 (Global Expansion):</a:t>
            </a:r>
          </a:p>
          <a:p>
            <a:pPr>
              <a:defRPr sz="1100">
                <a:solidFill>
                  <a:srgbClr val="FFFFFF"/>
                </a:solidFill>
                <a:latin typeface="SF Pro Text"/>
              </a:defRPr>
            </a:pPr>
            <a:r>
              <a:t>Scale model to Southeast Asia &amp; Latin America heritage crafts ($150M GMV).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103120"/>
            <a:ext cx="5150815" cy="4206240"/>
          </a:xfrm>
          <a:prstGeom prst="roundRect">
            <a:avLst/>
          </a:prstGeom>
          <a:solidFill>
            <a:srgbClr val="1C1812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286000"/>
            <a:ext cx="478505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4AF37"/>
                </a:solidFill>
                <a:latin typeface="SF Pro Display"/>
              </a:defRPr>
            </a:pPr>
            <a:r>
              <a:t>THE INVESTMENT ASK</a:t>
            </a:r>
          </a:p>
          <a:p>
            <a:pPr>
              <a:spcBef>
                <a:spcPts val="600"/>
              </a:spcBef>
              <a:defRPr sz="2600" b="1">
                <a:solidFill>
                  <a:srgbClr val="F3E5AB"/>
                </a:solidFill>
                <a:latin typeface="SF Pro Display"/>
              </a:defRPr>
            </a:pPr>
            <a:r>
              <a:t>$1.5 Million Seed Financing</a:t>
            </a:r>
          </a:p>
          <a:p>
            <a:pPr>
              <a:spcBef>
                <a:spcPts val="1600"/>
              </a:spcBef>
              <a:defRPr sz="1100" b="1">
                <a:solidFill>
                  <a:srgbClr val="D4AF37"/>
                </a:solidFill>
                <a:latin typeface="SF Pro Display"/>
              </a:defRPr>
            </a:pPr>
            <a:r>
              <a:t>USE OF FUNDS BREAKDOWN: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  <a:latin typeface="SF Pro Text"/>
              </a:defRPr>
            </a:pPr>
            <a:r>
              <a:t>• 40% ($600k): Artisan Co-Op Onboarding &amp; Guild Tools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  <a:latin typeface="SF Pro Text"/>
              </a:defRPr>
            </a:pPr>
            <a:r>
              <a:t>• 30% ($450k): Global Luxury DTC Marketing &amp; Customer Acquisition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  <a:latin typeface="SF Pro Text"/>
              </a:defRPr>
            </a:pPr>
            <a:r>
              <a:t>• 20% ($300k): Gemini AI &amp; Digital Provenance Engine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  <a:latin typeface="SF Pro Text"/>
              </a:defRPr>
            </a:pPr>
            <a:r>
              <a:t>• 10% ($150k): Supply Chain Logistics &amp; GI Hub Infrastructure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