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ster_potter_arti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97280"/>
            <a:ext cx="3840480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71600"/>
            <a:ext cx="6858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4AF37"/>
                </a:solidFill>
                <a:latin typeface="Georgia"/>
              </a:defRPr>
            </a:pPr>
            <a:r>
              <a:rPr dirty="0"/>
              <a:t>Parampara</a:t>
            </a:r>
            <a:r>
              <a:rPr lang="en-IN" dirty="0"/>
              <a:t> Heritage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2743199"/>
            <a:ext cx="6858000" cy="1477327"/>
          </a:xfrm>
          <a:prstGeom prst="roundRect">
            <a:avLst/>
          </a:prstGeom>
          <a:solidFill>
            <a:srgbClr val="1916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5820" y="2896137"/>
            <a:ext cx="64922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1">
                <a:solidFill>
                  <a:srgbClr val="F3E5AB"/>
                </a:solidFill>
                <a:latin typeface="Georgia"/>
              </a:defRPr>
            </a:pPr>
            <a:r>
              <a:rPr lang="en-IN" b="1" dirty="0">
                <a:solidFill>
                  <a:srgbClr val="F3E5AB"/>
                </a:solidFill>
                <a:latin typeface="Georgia"/>
              </a:rPr>
              <a:t>One Country || </a:t>
            </a:r>
            <a:r>
              <a:rPr lang="en-IN" i="1" dirty="0">
                <a:solidFill>
                  <a:srgbClr val="F3E5AB"/>
                </a:solidFill>
                <a:latin typeface="Georgia"/>
              </a:rPr>
              <a:t>One Masterpiece || </a:t>
            </a:r>
            <a:r>
              <a:rPr lang="en-IN" b="1" dirty="0">
                <a:solidFill>
                  <a:srgbClr val="F3E5AB"/>
                </a:solidFill>
                <a:latin typeface="Georgia"/>
              </a:rPr>
              <a:t>Infinite Pride.</a:t>
            </a:r>
          </a:p>
          <a:p>
            <a:pPr>
              <a:defRPr sz="1800" b="1" i="1">
                <a:solidFill>
                  <a:srgbClr val="F3E5AB"/>
                </a:solidFill>
                <a:latin typeface="Georgia"/>
              </a:defRPr>
            </a:pPr>
            <a:r>
              <a:rPr lang="en-IN" b="1" dirty="0">
                <a:solidFill>
                  <a:srgbClr val="F3E5AB"/>
                </a:solidFill>
                <a:latin typeface="Georgia"/>
              </a:rPr>
              <a:t> </a:t>
            </a:r>
          </a:p>
          <a:p>
            <a:pPr>
              <a:defRPr sz="1800" b="1" i="1">
                <a:solidFill>
                  <a:srgbClr val="F3E5AB"/>
                </a:solidFill>
                <a:latin typeface="Georgia"/>
              </a:defRPr>
            </a:pPr>
            <a:endParaRPr lang="en-IN" b="1" dirty="0">
              <a:solidFill>
                <a:srgbClr val="F3E5AB"/>
              </a:solidFill>
              <a:latin typeface="Georgia"/>
            </a:endParaRPr>
          </a:p>
          <a:p>
            <a:pPr>
              <a:defRPr sz="1800" b="1" i="1">
                <a:solidFill>
                  <a:srgbClr val="F3E5AB"/>
                </a:solidFill>
                <a:latin typeface="Georgia"/>
              </a:defRPr>
            </a:pPr>
            <a:endParaRPr lang="en-IN" b="1" dirty="0">
              <a:solidFill>
                <a:srgbClr val="F3E5AB"/>
              </a:solidFill>
              <a:latin typeface="Georgia"/>
            </a:endParaRPr>
          </a:p>
          <a:p>
            <a:pPr>
              <a:defRPr sz="1800" b="1" i="1">
                <a:solidFill>
                  <a:srgbClr val="F3E5AB"/>
                </a:solidFill>
                <a:latin typeface="Georgia"/>
              </a:defRPr>
            </a:pPr>
            <a:endParaRPr lang="en-IN" b="1" dirty="0">
              <a:solidFill>
                <a:srgbClr val="F3E5AB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9854" y="3453880"/>
            <a:ext cx="685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9B8E"/>
                </a:solidFill>
                <a:latin typeface="Arial"/>
              </a:defRPr>
            </a:pPr>
            <a:r>
              <a:rPr lang="en-IN" sz="1600" dirty="0">
                <a:solidFill>
                  <a:srgbClr val="A09B8E"/>
                </a:solidFill>
                <a:latin typeface="Georgia" panose="02040502050405020303" pitchFamily="18" charset="0"/>
              </a:rPr>
              <a:t>Discover the single most iconic handcrafted treasure from each of India's 28 states. Authenticity you can feel, heritage you can own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4541774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72410" y="4779178"/>
            <a:ext cx="107273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rPr lang="en-US" dirty="0"/>
              <a:t>6M</a:t>
            </a:r>
            <a:r>
              <a:rPr dirty="0"/>
              <a:t>+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rPr dirty="0"/>
              <a:t>Master Artisans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1027" y="4541774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01733" y="4618232"/>
            <a:ext cx="181306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rPr lang="en-IN" sz="2000" b="1" dirty="0">
                <a:solidFill>
                  <a:srgbClr val="D4AF37"/>
                </a:solidFill>
                <a:latin typeface="Georgia"/>
              </a:rPr>
              <a:t>₹4.61 lakh crore</a:t>
            </a:r>
            <a:endParaRPr dirty="0"/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rPr dirty="0"/>
              <a:t>Heritage TAM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6220" y="4500479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46220" y="464513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rPr dirty="0"/>
              <a:t>85%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rPr dirty="0"/>
              <a:t>Artisan Share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83580" y="4500479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83580" y="4683359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rPr dirty="0"/>
              <a:t>18% MoM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rPr dirty="0"/>
              <a:t>GMV Growth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BDE3AA-BE82-52C8-D40C-799755806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2 — THE ACUTE PAIN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rPr dirty="0"/>
              <a:t>An Acute Heritage Crisis Demands Immediate Urgency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rPr dirty="0"/>
              <a:t>Global craft ecosystems suffer from severe exploitation, counterfeits, and loss of ancestral lineage.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83280" cy="2813009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187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rPr sz="2400" dirty="0">
                <a:latin typeface="Georgia" panose="02040502050405020303" pitchFamily="18" charset="0"/>
              </a:rPr>
              <a:t>800% Middleman Markups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Middlemen capture up to 90% of retail profit margins, leaving artisans under $3/day. 10,000+ artisans abandon crafts annually.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03120"/>
            <a:ext cx="3383280" cy="2813009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2286000"/>
            <a:ext cx="3017520" cy="20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rPr sz="2400" dirty="0">
                <a:latin typeface="Georgia" panose="02040502050405020303" pitchFamily="18" charset="0"/>
              </a:rPr>
              <a:t>$15B Counterfeit Market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Cheap machine-made replicas swamping global markets impersonate authentic Geographical Indication (GI) heritage crafts.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03120"/>
            <a:ext cx="3383280" cy="2813009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3017520" cy="187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rPr sz="2400" dirty="0">
                <a:latin typeface="Georgia" panose="02040502050405020303" pitchFamily="18" charset="0"/>
              </a:rPr>
              <a:t>Zero Digital Provenance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High-Net-Worth global collectors cannot verify authenticity or artisan lineage, creating deep mistrust in international markets.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1345" y="5303520"/>
            <a:ext cx="10728655" cy="822960"/>
          </a:xfrm>
          <a:prstGeom prst="roundRect">
            <a:avLst/>
          </a:prstGeom>
          <a:solidFill>
            <a:srgbClr val="230F0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7872" y="5468778"/>
            <a:ext cx="105457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E9E"/>
                </a:solidFill>
                <a:latin typeface="Arial"/>
              </a:defRPr>
            </a:pPr>
            <a:r>
              <a:rPr dirty="0">
                <a:latin typeface="Georgia" panose="02040502050405020303" pitchFamily="18" charset="0"/>
              </a:rPr>
              <a:t>CRITICAL URGENCY: Without direct digital fair-trade infrastructure, 40% of India's indigenous craft traditions will vanish within this decade.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CE6595-1E5E-5622-8295-344B78561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3 — PRODUCT SOLUTION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The Parampara Platform &amp; Provenance Engine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Direct artisan commerce paired with digital GI authenticity certificates and Gemini AI cultural storytelling.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Direct-to-Artisan Payouts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Routes 85% of revenue straight to rural artisan bank accounts and co-ops.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GI Certificate Generator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Cryptographically verifiable QR certificates shipped with every physical masterpiece.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Gemini AI Concierge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Interactive AI guide bringing cultural history and craft lineage to life for buyers.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Interactive State Map Engine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Real-time exploration of 28 Indian States &amp; district craft density.</a:t>
            </a:r>
          </a:p>
        </p:txBody>
      </p:sp>
      <p:pic>
        <p:nvPicPr>
          <p:cNvPr id="12" name="Picture 11" descr="pattachitra_pai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2560320" cy="2011680"/>
          </a:xfrm>
          <a:prstGeom prst="rect">
            <a:avLst/>
          </a:prstGeom>
        </p:spPr>
      </p:pic>
      <p:pic>
        <p:nvPicPr>
          <p:cNvPr id="13" name="Picture 12" descr="blue_pottery_v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011680"/>
            <a:ext cx="2560320" cy="2011680"/>
          </a:xfrm>
          <a:prstGeom prst="rect">
            <a:avLst/>
          </a:prstGeom>
        </p:spPr>
      </p:pic>
      <p:pic>
        <p:nvPicPr>
          <p:cNvPr id="14" name="Picture 13" descr="banarasi_sa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206240"/>
            <a:ext cx="2560320" cy="20116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778240" y="4206240"/>
            <a:ext cx="2560320" cy="2011680"/>
          </a:xfrm>
          <a:prstGeom prst="roundRect">
            <a:avLst/>
          </a:prstGeom>
          <a:solidFill>
            <a:srgbClr val="19141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4285406"/>
            <a:ext cx="2377440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Georgia"/>
              </a:defRPr>
            </a:pPr>
            <a:r>
              <a:rPr sz="1400" dirty="0">
                <a:latin typeface="Georgia" panose="02040502050405020303" pitchFamily="18" charset="0"/>
              </a:rPr>
              <a:t>GEMINI AI CONCIERGE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"</a:t>
            </a:r>
            <a:r>
              <a:rPr sz="1400" dirty="0" err="1">
                <a:latin typeface="Georgia" panose="02040502050405020303" pitchFamily="18" charset="0"/>
              </a:rPr>
              <a:t>Pattachitra</a:t>
            </a:r>
            <a:r>
              <a:rPr sz="1400" dirty="0">
                <a:latin typeface="Georgia" panose="02040502050405020303" pitchFamily="18" charset="0"/>
              </a:rPr>
              <a:t> uses 100% natural stone pigments depicting Jagannath lore across 30 generations."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4FAA206-D450-EC16-8D85-4C8D2C071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4 — BOTTOM-UP 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$48.5 Billion Global Heritage Luxury Opportunity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Calculated bottom-up from target high-net-worth diaspora &amp; global art collectors.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2347943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645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rPr sz="1200" dirty="0">
                <a:latin typeface="Georgia" panose="02040502050405020303" pitchFamily="18" charset="0"/>
              </a:rPr>
              <a:t>TAM (Total Addressable)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rPr sz="4400" dirty="0">
                <a:latin typeface="Georgia" panose="02040502050405020303" pitchFamily="18" charset="0"/>
              </a:rPr>
              <a:t>$48.5B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200" dirty="0">
                <a:latin typeface="Georgia" panose="02040502050405020303" pitchFamily="18" charset="0"/>
              </a:rPr>
              <a:t>Global Handmade Heritage &amp; Luxury Home Decor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383280" cy="2347943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645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2377440"/>
            <a:ext cx="3017520" cy="1949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SAM (Serviceable Addressable)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rPr sz="4800" dirty="0">
                <a:latin typeface="Georgia" panose="02040502050405020303" pitchFamily="18" charset="0"/>
              </a:rPr>
              <a:t>$3.0B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2.5M Global Diaspora &amp; Collectors × $1,200 Annual 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383280" cy="2347943"/>
          </a:xfrm>
          <a:prstGeom prst="roundRect">
            <a:avLst/>
          </a:prstGeom>
          <a:solidFill>
            <a:srgbClr val="1C18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017520" cy="1949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SOM (Target Year 3)</a:t>
            </a:r>
            <a:endParaRPr lang="en-US" sz="1400" dirty="0">
              <a:latin typeface="Georgia" panose="02040502050405020303" pitchFamily="18" charset="0"/>
            </a:endParaRPr>
          </a:p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rPr lang="en-US" sz="1400" dirty="0">
                <a:latin typeface="Georgia" panose="02040502050405020303" pitchFamily="18" charset="0"/>
              </a:rPr>
              <a:t>(</a:t>
            </a:r>
            <a:r>
              <a:rPr lang="en-IN" sz="1050" b="1" dirty="0">
                <a:solidFill>
                  <a:srgbClr val="D4AF37"/>
                </a:solidFill>
                <a:latin typeface="Georgia" panose="02040502050405020303" pitchFamily="18" charset="0"/>
              </a:rPr>
              <a:t>Serviceable Obtainable Market</a:t>
            </a:r>
            <a:r>
              <a:rPr lang="en-US" sz="1400" dirty="0">
                <a:latin typeface="Georgia" panose="02040502050405020303" pitchFamily="18" charset="0"/>
              </a:rPr>
              <a:t>)</a:t>
            </a:r>
            <a:endParaRPr sz="1400" dirty="0">
              <a:latin typeface="Georgia" panose="02040502050405020303" pitchFamily="18" charset="0"/>
            </a:endParaRP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rPr sz="4800" dirty="0">
                <a:latin typeface="Georgia" panose="02040502050405020303" pitchFamily="18" charset="0"/>
              </a:rPr>
              <a:t>$120M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150,000 Active Luxury Buyers × $800 Annual Contract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1345" y="5029200"/>
            <a:ext cx="10728655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7127" y="5083725"/>
            <a:ext cx="10117089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rPr dirty="0">
                <a:latin typeface="Georgia" panose="02040502050405020303" pitchFamily="18" charset="0"/>
              </a:rPr>
              <a:t>BOTTOM-UP SOM FORMULA: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dirty="0">
                <a:latin typeface="Georgia" panose="02040502050405020303" pitchFamily="18" charset="0"/>
              </a:rPr>
              <a:t>SOM = 150,000 Target Luxury Collectors × $800 Annual Contract Value (ACV) = $120,000,000 (Target Year 3)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182358-9CF5-B872-0A47-66BDA9CA6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5 — BUSINESS MODEL &amp;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rPr dirty="0"/>
              <a:t>Multi-Stream Revenue Engine with High Unit Economics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rPr dirty="0"/>
              <a:t>Diversified monetization spanning direct D2C commissions, B2B SaaS co-op fees, and corporate gifting.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2416769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rPr sz="1100" dirty="0">
                <a:latin typeface="Georgia" panose="02040502050405020303" pitchFamily="18" charset="0"/>
              </a:rPr>
              <a:t>Marketplace Stream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rPr sz="2800" dirty="0">
                <a:latin typeface="Georgia" panose="02040502050405020303" pitchFamily="18" charset="0"/>
              </a:rPr>
              <a:t>15% Take-Rate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Direct platform commission on consumer transactions across luxury heritage crafts and certified masterpieces.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383280" cy="2416769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2377440"/>
            <a:ext cx="3017520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rPr dirty="0"/>
              <a:t>Co-Op SaaS Tier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rPr lang="en-IN" sz="2400" b="1" dirty="0">
                <a:solidFill>
                  <a:srgbClr val="FFFFFF"/>
                </a:solidFill>
                <a:latin typeface="Georgia"/>
              </a:rPr>
              <a:t>₹28,400 - ₹95,100/month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rPr sz="1400" dirty="0"/>
              <a:t>Subscription inventory OS &amp; digital storefronts for GI Cooperatives and Export Guilds.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383280" cy="2416769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01752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rPr dirty="0"/>
              <a:t>Corporate Gifting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rPr dirty="0"/>
              <a:t>25% - 35% Margin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400" dirty="0"/>
              <a:t>B2B bespoke artisan commissions for luxury hotel chains, diplomatic events, and corporate gifts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52120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47760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3E5AB"/>
                </a:solidFill>
                <a:latin typeface="Georgia"/>
              </a:defRPr>
            </a:pPr>
            <a:r>
              <a:rPr sz="1400" dirty="0">
                <a:latin typeface="Georgia" panose="02040502050405020303" pitchFamily="18" charset="0"/>
              </a:rPr>
              <a:t>Customer Acquisition Cost (CAC): </a:t>
            </a:r>
            <a:r>
              <a:rPr lang="en-IN" sz="1600" b="1" dirty="0">
                <a:solidFill>
                  <a:srgbClr val="F3E5AB"/>
                </a:solidFill>
                <a:latin typeface="Georgia"/>
              </a:rPr>
              <a:t>₹40,000</a:t>
            </a:r>
            <a:endParaRPr sz="1400" dirty="0">
              <a:latin typeface="Georgia" panose="02040502050405020303" pitchFamily="18" charset="0"/>
            </a:endParaRPr>
          </a:p>
          <a:p>
            <a:pPr>
              <a:defRPr sz="1100">
                <a:solidFill>
                  <a:srgbClr val="A09B8E"/>
                </a:solidFill>
              </a:defRPr>
            </a:pPr>
            <a:r>
              <a:rPr sz="1200" dirty="0">
                <a:latin typeface="Georgia" panose="02040502050405020303" pitchFamily="18" charset="0"/>
              </a:rPr>
              <a:t>Blended CAC across targeted paid search, cultural events, and heritage D2C.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212080"/>
            <a:ext cx="5212080" cy="1097280"/>
          </a:xfrm>
          <a:prstGeom prst="roundRect">
            <a:avLst/>
          </a:prstGeom>
          <a:solidFill>
            <a:srgbClr val="141E14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5349240"/>
            <a:ext cx="470834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  <a:latin typeface="Georgia"/>
              </a:defRPr>
            </a:pPr>
            <a:r>
              <a:rPr dirty="0">
                <a:latin typeface="Georgia" panose="02040502050405020303" pitchFamily="18" charset="0"/>
              </a:rPr>
              <a:t>Customer Lifetime Value (LTV): </a:t>
            </a:r>
            <a:r>
              <a:rPr lang="en-IN" sz="1600" b="1" dirty="0">
                <a:solidFill>
                  <a:srgbClr val="2ECC71"/>
                </a:solidFill>
                <a:latin typeface="Georgia"/>
              </a:rPr>
              <a:t>₹2,28,400</a:t>
            </a:r>
            <a:endParaRPr dirty="0">
              <a:latin typeface="Georgia" panose="02040502050405020303" pitchFamily="18" charset="0"/>
            </a:endParaRP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dirty="0">
                <a:latin typeface="Georgia" panose="02040502050405020303" pitchFamily="18" charset="0"/>
              </a:rPr>
              <a:t>5.7x LTV/CAC Ratio with high repeat purchasing among art collectors.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3B9A77F-FEDB-23AB-FA6E-53C9121B8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6 — TRACTION &amp; KEY GROWTH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rPr lang="en-US" dirty="0"/>
              <a:t>Month</a:t>
            </a:r>
            <a:r>
              <a:rPr dirty="0"/>
              <a:t>-over-</a:t>
            </a:r>
            <a:r>
              <a:rPr lang="en-US" dirty="0"/>
              <a:t>Month</a:t>
            </a:r>
            <a:r>
              <a:rPr dirty="0"/>
              <a:t> Growth Driven by Authentic Provenance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rPr dirty="0"/>
              <a:t>Demonstrated demand avoiding vanity metrics in favor of organic GMV and artisan retention.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9265" y="2103120"/>
            <a:ext cx="5680095" cy="4612312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5999"/>
            <a:ext cx="5120640" cy="442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rPr lang="en-US" sz="1400" dirty="0">
                <a:latin typeface="Georgia" panose="02040502050405020303" pitchFamily="18" charset="0"/>
              </a:rPr>
              <a:t>MONTH</a:t>
            </a:r>
            <a:r>
              <a:rPr sz="1400" dirty="0">
                <a:latin typeface="Georgia" panose="02040502050405020303" pitchFamily="18" charset="0"/>
              </a:rPr>
              <a:t>-OVER-</a:t>
            </a:r>
            <a:r>
              <a:rPr lang="en-US" sz="1400" dirty="0">
                <a:latin typeface="Georgia" panose="02040502050405020303" pitchFamily="18" charset="0"/>
              </a:rPr>
              <a:t>MONTH</a:t>
            </a:r>
            <a:r>
              <a:rPr sz="1400" dirty="0">
                <a:latin typeface="Georgia" panose="02040502050405020303" pitchFamily="18" charset="0"/>
              </a:rPr>
              <a:t> TRACTION HIGHLIGHTS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lang="en-IN" sz="1400" b="1" u="sng" dirty="0">
                <a:solidFill>
                  <a:srgbClr val="FFFFFF"/>
                </a:solidFill>
                <a:latin typeface="Georgia" panose="02040502050405020303" pitchFamily="18" charset="0"/>
              </a:rPr>
              <a:t>28 Indian States</a:t>
            </a:r>
            <a:b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</a:b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Traditional crafts from all </a:t>
            </a:r>
            <a:r>
              <a:rPr lang="en-IN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28 states of India</a:t>
            </a: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 are represented on the platform.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lang="en-IN" sz="1400" b="1" u="sng" dirty="0">
                <a:solidFill>
                  <a:srgbClr val="FFFFFF"/>
                </a:solidFill>
                <a:latin typeface="Georgia" panose="02040502050405020303" pitchFamily="18" charset="0"/>
              </a:rPr>
              <a:t>70% Revenue to Artisans</a:t>
            </a:r>
            <a:b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</a:br>
            <a:r>
              <a:rPr lang="en-IN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70% of revenue is directed to artisans</a:t>
            </a: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, helping reduce dependence on middlemen.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lang="en-IN" sz="1400" b="1" u="sng" dirty="0">
                <a:solidFill>
                  <a:srgbClr val="FFFFFF"/>
                </a:solidFill>
                <a:latin typeface="Georgia" panose="02040502050405020303" pitchFamily="18" charset="0"/>
              </a:rPr>
              <a:t>Heritage Certified Products</a:t>
            </a:r>
            <a:b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</a:b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Each product is supported by a </a:t>
            </a:r>
            <a:r>
              <a:rPr lang="en-IN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Digital Certificate of Authenticity</a:t>
            </a: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.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lang="en-IN" sz="1400" b="1" u="sng" dirty="0">
                <a:solidFill>
                  <a:srgbClr val="FFFFFF"/>
                </a:solidFill>
                <a:latin typeface="Georgia" panose="02040502050405020303" pitchFamily="18" charset="0"/>
              </a:rPr>
              <a:t>Master Artisan Profiles</a:t>
            </a:r>
            <a:b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</a:b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Artisans get a digital identity showcasing their </a:t>
            </a:r>
            <a:r>
              <a:rPr lang="en-IN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craft, experience, awards, and achievements</a:t>
            </a: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.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lang="en-IN" sz="1400" b="1" u="sng" dirty="0">
                <a:solidFill>
                  <a:srgbClr val="FFFFFF"/>
                </a:solidFill>
                <a:latin typeface="Georgia" panose="02040502050405020303" pitchFamily="18" charset="0"/>
              </a:rPr>
              <a:t>Global Customer Reach</a:t>
            </a:r>
            <a:b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</a:b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Parampara connects Indian artisans with </a:t>
            </a:r>
            <a:r>
              <a:rPr lang="en-IN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customers worldwide</a:t>
            </a: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 through an e-commerce platform.</a:t>
            </a:r>
            <a:endParaRPr dirty="0">
              <a:latin typeface="Georgia" panose="02040502050405020303" pitchFamily="18" charset="0"/>
            </a:endParaRPr>
          </a:p>
        </p:txBody>
      </p:sp>
      <p:pic>
        <p:nvPicPr>
          <p:cNvPr id="6" name="Picture 5" descr="artisa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341" y="2095411"/>
            <a:ext cx="5150815" cy="46123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96B32E-6753-2EDE-7DEF-3AE955061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7 — TECH STACK &amp; EDGE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rPr dirty="0"/>
              <a:t>High-Efficiency Architecture &amp; AI Storytelling Engine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rPr dirty="0"/>
              <a:t>Microservices architecture delivering sub-100ms API responses and domain-tuned AI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468880" cy="2574085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219456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rPr sz="1050" dirty="0">
                <a:latin typeface="Georgia" panose="02040502050405020303" pitchFamily="18" charset="0"/>
              </a:rPr>
              <a:t>EDGE &amp; CLIENT LAYER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dirty="0">
                <a:latin typeface="Georgia" panose="02040502050405020303" pitchFamily="18" charset="0"/>
              </a:rPr>
              <a:t>HTML5 &amp; SVG Map Engine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600" dirty="0">
                <a:latin typeface="Georgia" panose="02040502050405020303" pitchFamily="18" charset="0"/>
              </a:rPr>
              <a:t>Zero-dependency client architecture, responsive SVG state maps, </a:t>
            </a:r>
            <a:r>
              <a:rPr sz="1600" dirty="0" err="1">
                <a:latin typeface="Georgia" panose="02040502050405020303" pitchFamily="18" charset="0"/>
              </a:rPr>
              <a:t>glassmorphism</a:t>
            </a:r>
            <a:r>
              <a:rPr sz="1600" dirty="0">
                <a:latin typeface="Georgia" panose="02040502050405020303" pitchFamily="18" charset="0"/>
              </a:rPr>
              <a:t>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194560"/>
            <a:ext cx="2468880" cy="2574085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0" y="2331720"/>
            <a:ext cx="219456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rPr sz="1200" dirty="0">
                <a:latin typeface="Georgia" panose="02040502050405020303" pitchFamily="18" charset="0"/>
              </a:rPr>
              <a:t>BACKEND API LAYER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dirty="0">
                <a:latin typeface="Georgia" panose="02040502050405020303" pitchFamily="18" charset="0"/>
              </a:rPr>
              <a:t>Node.js + Express 5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600" dirty="0">
                <a:latin typeface="Georgia" panose="02040502050405020303" pitchFamily="18" charset="0"/>
              </a:rPr>
              <a:t>RESTful API services, JWT security, webhooks for </a:t>
            </a:r>
            <a:r>
              <a:rPr sz="1600" dirty="0" err="1">
                <a:latin typeface="Georgia" panose="02040502050405020303" pitchFamily="18" charset="0"/>
              </a:rPr>
              <a:t>Razorpay</a:t>
            </a:r>
            <a:r>
              <a:rPr sz="1600" dirty="0">
                <a:latin typeface="Georgia" panose="02040502050405020303" pitchFamily="18" charset="0"/>
              </a:rPr>
              <a:t> &amp; Stripe payments.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468880" cy="2574085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219456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rPr sz="1200" dirty="0">
                <a:latin typeface="Georgia" panose="02040502050405020303" pitchFamily="18" charset="0"/>
              </a:rPr>
              <a:t>DATA &amp; MEDIA ENGINE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dirty="0">
                <a:latin typeface="Georgia" panose="02040502050405020303" pitchFamily="18" charset="0"/>
              </a:rPr>
              <a:t>MongoDB Atlas &amp; </a:t>
            </a:r>
            <a:r>
              <a:rPr dirty="0" err="1">
                <a:latin typeface="Georgia" panose="02040502050405020303" pitchFamily="18" charset="0"/>
              </a:rPr>
              <a:t>Cloudinary</a:t>
            </a:r>
            <a:endParaRPr dirty="0">
              <a:latin typeface="Georgia" panose="02040502050405020303" pitchFamily="18" charset="0"/>
            </a:endParaRP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600" dirty="0">
                <a:latin typeface="Georgia" panose="02040502050405020303" pitchFamily="18" charset="0"/>
              </a:rPr>
              <a:t>Cloud MongoDB cluster with </a:t>
            </a:r>
            <a:r>
              <a:rPr sz="1600" dirty="0" err="1">
                <a:latin typeface="Georgia" panose="02040502050405020303" pitchFamily="18" charset="0"/>
              </a:rPr>
              <a:t>WebP</a:t>
            </a:r>
            <a:r>
              <a:rPr sz="1600" dirty="0">
                <a:latin typeface="Georgia" panose="02040502050405020303" pitchFamily="18" charset="0"/>
              </a:rPr>
              <a:t> image optimization and video delivery CDN.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194560"/>
            <a:ext cx="2468880" cy="2574085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0" y="2331720"/>
            <a:ext cx="2194560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rPr sz="1050" dirty="0">
                <a:latin typeface="Georgia" panose="02040502050405020303" pitchFamily="18" charset="0"/>
              </a:rPr>
              <a:t>AI INTELLIGENCE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dirty="0">
                <a:latin typeface="Georgia" panose="02040502050405020303" pitchFamily="18" charset="0"/>
              </a:rPr>
              <a:t>Gemini 3.6 API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600" dirty="0">
                <a:latin typeface="Georgia" panose="02040502050405020303" pitchFamily="18" charset="0"/>
              </a:rPr>
              <a:t>Domain-tuned cultural heritage storyteller &amp; automated GI certificate generator.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34405"/>
            <a:ext cx="10728655" cy="7315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349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3E5AB"/>
                </a:solidFill>
                <a:latin typeface="Arial"/>
              </a:defRPr>
            </a:pPr>
            <a:r>
              <a:t>⚡ INFRASTRUCTURE ADVANTAGE: 99.99% Uptime | Sub-100ms Response Times | Complete Data Sovereignty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CDC9EF-5332-3794-EAB7-4A36353E6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8 — COMPETITIVE QUADRANT &amp;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rPr dirty="0"/>
              <a:t>Why Parampara Outperforms Mass Retailers &amp; Legacy Galleries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rPr dirty="0"/>
              <a:t>Combining high digital scalability with verified digital craft provenance.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150815" cy="3343951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93776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COMPETITIVE POSITIONING QUADRANT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• PARAMPARA (Winner Top-Right): High Digital Scale + Direct Verified GI Provenance.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• Mass E-Commerce (Etsy/Amazon): High Scale, but Low Provenance (Fake crafts, exploited sellers).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• Legacy Art Galleries: High Provenance, but Low Scale (500% markup, zero digital reach).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• Local Craft Fairs: Low Scale, Low Reach (Seasonal, local only).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150815" cy="3343951"/>
          </a:xfrm>
          <a:prstGeom prst="roundRect">
            <a:avLst/>
          </a:prstGeom>
          <a:solidFill>
            <a:srgbClr val="18141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785055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OUR DEFENSIBLE MOATS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rPr sz="1400" dirty="0">
                <a:latin typeface="Georgia" panose="02040502050405020303" pitchFamily="18" charset="0"/>
              </a:rPr>
              <a:t>1. Exclusive Co-Op Contracts: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Multi-year binding contracts with 30+ official Indian Geographical Indication (GI) guilds.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rPr sz="1400" dirty="0">
                <a:latin typeface="Georgia" panose="02040502050405020303" pitchFamily="18" charset="0"/>
              </a:rPr>
              <a:t>2. Digital GI Verification Engine: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Proprietary serial code &amp; QR cryptographic certificate linked directly to artisan IDs.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rPr sz="1400" dirty="0">
                <a:latin typeface="Georgia" panose="02040502050405020303" pitchFamily="18" charset="0"/>
              </a:rPr>
              <a:t>3. Domain-Tuned Cultural AI: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Custom Gemini knowledge base trained on 5,000+ authentic heritage documents.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DE3E2C-25F2-74E3-E815-B0889939C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9 — LEADERSHIP &amp;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rPr dirty="0"/>
              <a:t>Built by Engineering &amp; Heritage Preservation Leaders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rPr dirty="0"/>
              <a:t>Combining deep technical execution with authentic artisan guild leadership.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4266" y="2194560"/>
            <a:ext cx="2777613" cy="2515092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5794" y="2362050"/>
            <a:ext cx="21945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Georgia"/>
              </a:defRPr>
            </a:pPr>
            <a:r>
              <a:rPr lang="en-US" sz="2400" dirty="0"/>
              <a:t> </a:t>
            </a:r>
            <a:r>
              <a:rPr lang="en-US" sz="2400" dirty="0" err="1"/>
              <a:t>Pruthviraj</a:t>
            </a:r>
            <a:endParaRPr lang="en-US" sz="2400" dirty="0"/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Arial"/>
              </a:defRPr>
            </a:pPr>
            <a:r>
              <a:rPr lang="en-US" sz="1400" dirty="0"/>
              <a:t>Full-Stack Developer</a:t>
            </a:r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lang="en-IN" sz="1400" dirty="0">
                <a:solidFill>
                  <a:srgbClr val="A09B8E"/>
                </a:solidFill>
                <a:latin typeface="Arial"/>
              </a:rPr>
              <a:t>Responsible for overall application development and integration.</a:t>
            </a:r>
            <a:endParaRPr lang="en-US"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3219081" y="2194560"/>
            <a:ext cx="2777612" cy="2515092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10608" y="2331272"/>
            <a:ext cx="219456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Georgia"/>
              </a:defRPr>
            </a:pPr>
            <a:r>
              <a:rPr lang="en-US" sz="2000" dirty="0"/>
              <a:t>Renukaradya M B</a:t>
            </a:r>
            <a:endParaRPr sz="2000" dirty="0"/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Arial"/>
              </a:defRPr>
            </a:pPr>
            <a:r>
              <a:rPr lang="en-IN" sz="1400" b="1" dirty="0">
                <a:solidFill>
                  <a:srgbClr val="D4AF37"/>
                </a:solidFill>
                <a:latin typeface="Arial"/>
              </a:rPr>
              <a:t>Frontend Developer</a:t>
            </a:r>
            <a:endParaRPr sz="1400" dirty="0"/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lang="en-IN" sz="1400" dirty="0">
                <a:solidFill>
                  <a:srgbClr val="A09B8E"/>
                </a:solidFill>
                <a:latin typeface="Arial"/>
              </a:rPr>
              <a:t>Responsible for UI/UX, website pages, responsive design and frontend implementation.</a:t>
            </a:r>
            <a:endParaRPr sz="1400" dirty="0"/>
          </a:p>
        </p:txBody>
      </p:sp>
      <p:sp>
        <p:nvSpPr>
          <p:cNvPr id="8" name="Rounded Rectangle 7"/>
          <p:cNvSpPr/>
          <p:nvPr/>
        </p:nvSpPr>
        <p:spPr>
          <a:xfrm>
            <a:off x="6233895" y="2194560"/>
            <a:ext cx="2777612" cy="2515092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5421" y="2362050"/>
            <a:ext cx="21945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Georgia"/>
              </a:defRPr>
            </a:pPr>
            <a:r>
              <a:rPr lang="en-IN" sz="2400" b="1" dirty="0">
                <a:solidFill>
                  <a:srgbClr val="F3E5AB"/>
                </a:solidFill>
                <a:latin typeface="Georgia"/>
              </a:rPr>
              <a:t>C R </a:t>
            </a:r>
            <a:r>
              <a:rPr lang="en-IN" sz="2400" b="1" dirty="0" err="1">
                <a:solidFill>
                  <a:srgbClr val="F3E5AB"/>
                </a:solidFill>
                <a:latin typeface="Georgia"/>
              </a:rPr>
              <a:t>Suchith</a:t>
            </a:r>
            <a:r>
              <a:rPr lang="en-IN" sz="2400" b="1" dirty="0">
                <a:solidFill>
                  <a:srgbClr val="F3E5AB"/>
                </a:solidFill>
                <a:latin typeface="Georgia"/>
              </a:rPr>
              <a:t> </a:t>
            </a:r>
            <a:endParaRPr lang="en-IN" sz="2400" dirty="0"/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Arial"/>
              </a:defRPr>
            </a:pPr>
            <a:r>
              <a:rPr lang="en-IN" sz="1400" b="1" dirty="0">
                <a:solidFill>
                  <a:srgbClr val="D4AF37"/>
                </a:solidFill>
                <a:latin typeface="Arial"/>
              </a:rPr>
              <a:t>Backend Developer</a:t>
            </a:r>
            <a:endParaRPr sz="1400" dirty="0"/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lang="en-IN" sz="1400" dirty="0">
                <a:solidFill>
                  <a:srgbClr val="A09B8E"/>
                </a:solidFill>
                <a:latin typeface="Arial"/>
              </a:rPr>
              <a:t>Responsible for Node.js, Express.js, REST APIs and backend logic.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9248708" y="2106069"/>
            <a:ext cx="2739025" cy="2603583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20940" y="2362050"/>
            <a:ext cx="219456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Georgia"/>
              </a:defRPr>
            </a:pPr>
            <a:r>
              <a:rPr lang="en-IN" sz="1600" b="1" dirty="0">
                <a:solidFill>
                  <a:srgbClr val="F3E5AB"/>
                </a:solidFill>
                <a:latin typeface="Georgia"/>
              </a:rPr>
              <a:t>Manikanta K  </a:t>
            </a:r>
            <a:r>
              <a:rPr lang="en-IN" sz="1600" b="1" dirty="0" err="1">
                <a:solidFill>
                  <a:srgbClr val="F3E5AB"/>
                </a:solidFill>
                <a:latin typeface="Georgia"/>
              </a:rPr>
              <a:t>Poojar</a:t>
            </a:r>
            <a:endParaRPr sz="1600" dirty="0"/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Arial"/>
              </a:defRPr>
            </a:pPr>
            <a:r>
              <a:rPr lang="en-IN" sz="1400" b="1" dirty="0">
                <a:solidFill>
                  <a:srgbClr val="D4AF37"/>
                </a:solidFill>
                <a:latin typeface="Arial"/>
              </a:rPr>
              <a:t>Database Developer</a:t>
            </a:r>
            <a:endParaRPr sz="1400" dirty="0"/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lang="en-IN" sz="1400" dirty="0">
                <a:solidFill>
                  <a:srgbClr val="A09B8E"/>
                </a:solidFill>
                <a:latin typeface="Arial"/>
              </a:rPr>
              <a:t>Responsible for MongoDB, Mongoose, database schema and data management.</a:t>
            </a:r>
            <a:endParaRPr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1FFEBF-8162-3E1D-203E-983EF1684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1754B7B-11F6-24E4-5A40-E6A58A25E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27A79A-4B68-EEE5-4B1E-A06E9F64B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460" y="5171768"/>
            <a:ext cx="1241321" cy="12413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1031</Words>
  <Application>Microsoft Office PowerPoint</Application>
  <PresentationFormat>Widescreen</PresentationFormat>
  <Paragraphs>122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Renukaradya MB</cp:lastModifiedBy>
  <cp:revision>2</cp:revision>
  <dcterms:created xsi:type="dcterms:W3CDTF">2013-01-27T09:14:16Z</dcterms:created>
  <dcterms:modified xsi:type="dcterms:W3CDTF">2026-09-09T18:14:05Z</dcterms:modified>
  <cp:category/>
</cp:coreProperties>
</file>