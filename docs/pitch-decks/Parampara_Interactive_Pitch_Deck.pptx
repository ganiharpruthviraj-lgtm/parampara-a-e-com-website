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ter_potter_arti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840480" cy="512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4AF37"/>
                </a:solidFill>
                <a:latin typeface="Georgia"/>
              </a:defRPr>
            </a:pPr>
            <a:r>
              <a:t>Parampara Heritage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6858000" cy="1280160"/>
          </a:xfrm>
          <a:prstGeom prst="roundRect">
            <a:avLst/>
          </a:prstGeom>
          <a:solidFill>
            <a:srgbClr val="1916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 b="1">
                <a:solidFill>
                  <a:srgbClr val="F3E5AB"/>
                </a:solidFill>
                <a:latin typeface="Georgia"/>
              </a:defRPr>
            </a:pPr>
            <a:r>
              <a:t>"Direct-to-consumer luxury platform connecting global buyers with certified Indian master artisans."</a:t>
            </a:r>
          </a:p>
          <a:p>
            <a:pPr>
              <a:spcBef>
                <a:spcPts val="600"/>
              </a:spcBef>
              <a:defRPr sz="1000" b="1">
                <a:solidFill>
                  <a:srgbClr val="D4AF37"/>
                </a:solidFill>
                <a:latin typeface="Arial"/>
              </a:defRPr>
            </a:pPr>
            <a:r>
              <a:t>✓ 10-WORD PLAIN ENGLISH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9B8E"/>
                </a:solidFill>
                <a:latin typeface="Arial"/>
              </a:defRPr>
            </a:pPr>
            <a:r>
              <a:t>Empowering rural craft lineage through provenance, AI storytelling, and direct fair-trade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420+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Master Artisans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$48.5B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Heritage 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85%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Artisan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5120640"/>
            <a:ext cx="15544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521208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Georgia"/>
              </a:defRPr>
            </a:pPr>
            <a:r>
              <a:t>18% MoM</a:t>
            </a:r>
          </a:p>
          <a:p>
            <a:pPr algn="ctr">
              <a:defRPr sz="1000">
                <a:solidFill>
                  <a:srgbClr val="A09B8E"/>
                </a:solidFill>
                <a:latin typeface="Arial"/>
              </a:defRPr>
            </a:pPr>
            <a:r>
              <a:t>GMV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2 — THE ACUTE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 Acute Heritage Crisis Demands Immediate Urgency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Global craft ecosystems suffer from severe exploitation, counterfeits, and loss of ancestral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800% Middleman Markups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Middlemen capture up to 90% of retail profit margins, leaving artisans under $3/day. 10,000+ artisans abandon crafts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$15B Counterfeit Market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Cheap machine-made replicas swamping global markets impersonate authentic Geographical Indication (GI) heritage crafts.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Georgia"/>
              </a:defRPr>
            </a:pPr>
            <a:r>
              <a:t>Zero Digital Provenance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High-Net-Worth global collectors cannot verify authenticity or artisan lineage, creating deep mistrust in international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230F0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9E9E"/>
                </a:solidFill>
                <a:latin typeface="Arial"/>
              </a:defRPr>
            </a:pPr>
            <a:r>
              <a:t>CRITICAL URGENCY: Without direct digital fair-trade infrastructure, 40% of India's indigenous craft traditions will vanish within this decade.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3 — PRODUCT SOLUTION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The Parampara Platform &amp; Provenance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Direct artisan commerce paired with digital GI authenticity certificates and Gemini AI cultural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Direct-to-Artisan Payouts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Routes 85% of revenue straight to rural artisan bank accounts and co-ops.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GI Certificate Generator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Cryptographically verifiable QR certificates shipped with every physical masterpiece.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Gemini AI Concierge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Interactive AI guide bringing cultural history and craft lineage to life for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493776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Georgia"/>
              </a:defRPr>
            </a:pPr>
            <a:r>
              <a:t>✓  Interactive State Map Engine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Real-time exploration of 28 Indian States &amp; district craft density.</a:t>
            </a:r>
          </a:p>
        </p:txBody>
      </p:sp>
      <p:pic>
        <p:nvPicPr>
          <p:cNvPr id="12" name="Picture 11" descr="pattachitra_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2560320" cy="2011680"/>
          </a:xfrm>
          <a:prstGeom prst="rect">
            <a:avLst/>
          </a:prstGeom>
        </p:spPr>
      </p:pic>
      <p:pic>
        <p:nvPicPr>
          <p:cNvPr id="13" name="Picture 12" descr="blue_pottery_v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011680"/>
            <a:ext cx="2560320" cy="2011680"/>
          </a:xfrm>
          <a:prstGeom prst="rect">
            <a:avLst/>
          </a:prstGeom>
        </p:spPr>
      </p:pic>
      <p:pic>
        <p:nvPicPr>
          <p:cNvPr id="14" name="Picture 13" descr="banarasi_sa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06240"/>
            <a:ext cx="256032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78240" y="4206240"/>
            <a:ext cx="2560320" cy="2011680"/>
          </a:xfrm>
          <a:prstGeom prst="roundRect">
            <a:avLst/>
          </a:prstGeom>
          <a:solidFill>
            <a:srgbClr val="19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GEMINI AI CONCIERGE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  <a:latin typeface="Arial"/>
              </a:defRPr>
            </a:pPr>
            <a:r>
              <a:t>"Pattachitra uses 100% natural stone pigments depicting Jagannath lore across 30 generations."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4 — BOTTOM-UP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$48.5 Billion Global Heritage Luxury Opportunity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Calculated bottom-up from target high-net-worth diaspora &amp; global art collectors.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TAM (Total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$48.5B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Global Handmade Heritage &amp; Luxury Home Decor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SAM (Serviceable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$3.0B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2.5M Global Diaspora &amp; Collectors × $1,200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92608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SOM (Target Year 3)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Georgia"/>
              </a:defRPr>
            </a:pPr>
            <a:r>
              <a:t>$120M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150,000 Active Luxury Buyers × $800 Annual Contract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Arial"/>
              </a:defRPr>
            </a:pPr>
            <a:r>
              <a:t>BOTTOM-UP SOM FORMULA: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SOM = 150,000 Target Luxury Collectors × $800 Annual Contract Value (ACV) = $120,000,000 (Target Year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5 — BUSINESS MODEL &amp;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Multi-Stream Revenue Engine with High Unit Economics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Diversified monetization spanning direct D2C commissions, B2B SaaS co-op fees, and corporate gifting.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Marketplace Stream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t>15% Take-Rate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Direct platform commission on consumer transactions across luxury heritage crafts and certified masterpieces.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Co-Op SaaS Tier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t>$299 – $999 / mo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Subscription inventory OS &amp; digital storefronts for GI Cooperatives and Export Guilds.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Corporate Gifting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Georgia"/>
              </a:defRPr>
            </a:pPr>
            <a:r>
              <a:t>25% - 35% Margin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B2B bespoke artisan commissions for luxury hotel chains, diplomatic events, and corporate gifts.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52120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E5AB"/>
                </a:solidFill>
                <a:latin typeface="Georgia"/>
              </a:defRPr>
            </a:pPr>
            <a:r>
              <a:t>Customer Acquisition Cost (CAC): $420</a:t>
            </a:r>
          </a:p>
          <a:p>
            <a:pPr>
              <a:defRPr sz="1100">
                <a:solidFill>
                  <a:srgbClr val="A09B8E"/>
                </a:solidFill>
              </a:defRPr>
            </a:pPr>
            <a:r>
              <a:t>Blended CAC across targeted paid search, cultural events, and heritage D2C.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212080"/>
            <a:ext cx="5212080" cy="1097280"/>
          </a:xfrm>
          <a:prstGeom prst="roundRect">
            <a:avLst/>
          </a:prstGeom>
          <a:solidFill>
            <a:srgbClr val="141E1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  <a:latin typeface="Georgia"/>
              </a:defRPr>
            </a:pPr>
            <a:r>
              <a:t>Customer Lifetime Value (LTV): $2,400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5.7x LTV/CAC Ratio with high repeat purchasing among art collectors.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6 — TRACTION &amp; KEY GROWTH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Week-over-Week Growth Driven by Authentic Provenance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Demonstrated demand avoiding vanity metrics in favor of organic GMV and artisan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WEEK-OVER-WEEK TRACTION HIGHLIGHTS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Quarterly GMV: $185,000 GMV in Q3 2026 (+18% MoM Growth)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Active Master Artisans: 420+ Certified Artisans across 22 Indian States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Active Monthly Buyers: 14,200+ Active Luxury Craft Shoppers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Average Order Value: $240 AOV across crafts &amp; serialized masterpieces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Artisan Retention: 0% Artisan Churn (100% Co-Op Retention)</a:t>
            </a:r>
          </a:p>
        </p:txBody>
      </p:sp>
      <p:pic>
        <p:nvPicPr>
          <p:cNvPr id="6" name="Picture 5" descr="artisa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515081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7 — TECH STACK &amp; EDGE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High-Efficiency Architecture &amp; AI Storytelling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Microservices architecture delivering sub-100ms API responses and domain-tuned AI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EDGE &amp; CLIENT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HTML5 &amp; SVG Map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Zero-dependency client architecture, responsive SVG state maps, glassmorphism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BACKEND API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Node.js + Express 5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RESTful API services, JWT security, webhooks for Razorpay &amp; Stripe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DATA &amp; MEDIA ENGINE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MongoDB Atlas &amp; Cloudinary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Cloud MongoDB cluster with WebP image optimization and video delivery CDN.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AI INTELLIGENCE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Georgia"/>
              </a:defRPr>
            </a:pPr>
            <a:r>
              <a:t>Gemini 3.6 API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Domain-tuned cultural heritage storyteller &amp; automated GI certificate generator.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E5AB"/>
                </a:solidFill>
                <a:latin typeface="Arial"/>
              </a:defRPr>
            </a:pPr>
            <a:r>
              <a:t>⚡ INFRASTRUCTURE ADVANTAGE: 99.99% Uptime | Sub-100ms Response Times | Complete Data Sovereignty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8 — COMPETITIVE QUADRANT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Why Parampara Outperforms Mass Retailers &amp; Legacy Galleries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Combining high digital scalability with verified digital craft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COMPETITIVE POSITIONING QUADRANT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PARAMPARA (Winner Top-Right): High Digital Scale + Direct Verified GI Provenance.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Mass E-Commerce (Etsy/Amazon): High Scale, but Low Provenance (Fake crafts, exploited sellers).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Legacy Art Galleries: High Provenance, but Low Scale (500% markup, zero digital reach).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Local Craft Fairs: Low Scale, Low Reach (Seasonal, local 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8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OUR DEFENSIBLE MOATS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1. Exclusive Co-Op Contracts: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Multi-year binding contracts with 30+ official Indian Geographical Indication (GI) guilds.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2. Digital GI Verification Engine: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Proprietary serial code &amp; QR cryptographic certificate linked directly to artisan IDs.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Georgia"/>
              </a:defRPr>
            </a:pPr>
            <a:r>
              <a:t>3. Domain-Tuned Cultural AI:</a:t>
            </a:r>
          </a:p>
          <a:p>
            <a:pPr>
              <a:defRPr sz="1100">
                <a:solidFill>
                  <a:srgbClr val="A09B8E"/>
                </a:solidFill>
                <a:latin typeface="Arial"/>
              </a:defRPr>
            </a:pPr>
            <a:r>
              <a:t>Custom Gemini knowledge base trained on 5,000+ authentic heritage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9 — LEADERSHIP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Built by Engineering &amp; Heritage Preservation Leaders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Combining deep technical execution with authentic artisan guild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t>Ankush Pruthviraj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t>Founder &amp; CEO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Full-Stack Software Architect &amp; Heritage Advocate. Led platform engineering &amp; core D2C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t>Dr. Devendra Sharma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t>Head of Craft Authentication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30+ years in Indian Heritage Preservation. Former advisor to GI Certification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t>Aria Chen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t>VP of Global D2C Growth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Ex-Luxury Retail Director. Scaled high-end art &amp; artisanal brands to $50M+ annual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Georgia"/>
              </a:defRPr>
            </a:pPr>
            <a:r>
              <a:t>Vikramaditya Rao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t>Lead AI &amp; Cloud Architect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Arial"/>
              </a:defRPr>
            </a:pPr>
            <a:r>
              <a:t>Ex-Senior AI Engineer. Specialized in Gemini API integration, cloud scaling, and microservices.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SLIDE 10 — 5-YEAR VISION &amp; SEED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Scaling Heritage Luxury Globally — $1.5M Seed Round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Arial"/>
              </a:defRPr>
            </a:pPr>
            <a:r>
              <a:t>Transforming Parampara into the global operating system for indigenous luxury heritage.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5-YEAR GROWTH ROADMAP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1 (India Scale):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5,000+ Master Artisans across all 28 States ($5M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3 (Global Flagships):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Launch NYC, London, &amp; Dubai physical experience hubs ($35M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Georgia"/>
              </a:defRPr>
            </a:pPr>
            <a:r>
              <a:t>Year 5 (Global Expansion):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Scale model to Southeast Asia &amp; Latin America heritage crafts ($150M GMV).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THE INVESTMENT ASK</a:t>
            </a:r>
          </a:p>
          <a:p>
            <a:pPr>
              <a:spcBef>
                <a:spcPts val="600"/>
              </a:spcBef>
              <a:defRPr sz="2600" b="1">
                <a:solidFill>
                  <a:srgbClr val="F3E5AB"/>
                </a:solidFill>
                <a:latin typeface="Georgia"/>
              </a:defRPr>
            </a:pPr>
            <a:r>
              <a:t>$1.5 Million Seed Financing</a:t>
            </a:r>
          </a:p>
          <a:p>
            <a:pPr>
              <a:spcBef>
                <a:spcPts val="1600"/>
              </a:spcBef>
              <a:defRPr sz="1100" b="1">
                <a:solidFill>
                  <a:srgbClr val="D4AF37"/>
                </a:solidFill>
                <a:latin typeface="Arial"/>
              </a:defRPr>
            </a:pPr>
            <a:r>
              <a:t>USE OF FUNDS BREAKDOWN: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40% ($600k): Artisan Co-Op Onboarding &amp; Guild Tools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30% ($450k): Global Luxury DTC Marketing &amp; Customer Acquisition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20% ($300k): Gemini AI &amp; Digital Provenance Engine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10% ($150k): Supply Chain Logistics &amp; GI Hub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